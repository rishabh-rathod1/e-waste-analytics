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and committee members. Today I present our Big Data Analytics project on Electronic Waste Generation Analysis and Recycling Infrastructure Optimization. Managing discarded electronics across 31 European nations over a 40-year horizon involves analyzing tens of millions of records. We have engineered an enterprise distributed big data platform entirely in user space, resolving critical domain double-counting challenges and delivering sub-second interactive analytics through modern distributed engines.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magnitude of the problem: electronic waste is the world's fastest-growing municipal solid waste stream. However, it is also an urban goldmine containing critical raw materials. The EU FutuRaM dataset provides the world's most comprehensive mapping of stocks and flows, but at 17.5 million records, traditional data science tools fail to scale. This necessitated an enterprise distributed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end-to-end architecture. Data flows from local disk into HDFS 128 MB blocks. A streaming profiler audits data quality in constant memory. PySpark performs ETL and deduplication, saving Snappy-compressed Parquet tables. We deploy dual compute engines: Hadoop MapReduce on YARN and Spark SQL, coupled with MLlib forecasting and a MongoDB geospatial layer, all surfaced via an interactive Streamlit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critical engineering achievement of our project was identifying and solving the hierarchical deduplication trap. Blindly calculating totals on this dataset inflates real waste by nearly double because sub-assemblies are co-listed. By filtering for blank Layer 2 records, we isolated 139,963 true summary records, ensuring absolute mathematical integrity across all downstream analytics.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rigorously evaluate distributed computing paradigms, we implemented both Hadoop MapReduce and Apache Spark. Our MapReduce streaming job ran over 17 input splits on YARN, while Spark processed the pipeline using its in-memory DAG and Catalyst optimizer. Both produced identical country totals down to the decimal, proving mathematical consistency while demonstrating Spark's superior speed.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Spark SQL analytics revealed striking geographical and category concentrations. The top 5 economies—UK, Germany, France, Italy, and Spain—account for over 70% of Western European electronic waste. Furthermore, large household appliances and small consumer equipment dominate the waste stream, representing two-thirds of total mass.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comparing policy trajectories, our simulations demonstrate that adopting a full Circular Economy framework avoids 161.5 million metric tons of e-waste by 2050. Using Spark MLlib, we upgraded our predictive engine to benchmark 4 distinct machine learning models. Our Champion model, Polynomial Feature Expansion, achieved an R-squared of 0.9009, reducing RMSE by 21% compared to standard linear regression. It projects European e-waste generation to reach 15.3M Mg by 2025 and 14.5M Mg by 2030, capturing accelerated device replacement cycles.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optimize recycling logistics, we integrated MongoDB to model European treatment infrastructure. Treatment facilities feature highly heterogeneous processes—from pyrometallurgy to hydrometallurgy. Using compound 2dsphere geospatial indexing, our system calculates spatial proximity between waste generation hotspots and authorized smelters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user interface is an 8-page interactive Streamlit dashboard. By following a serving layer design pattern where the UI queries pre-aggregated Parquet tables and cached CSVs, the dashboard achieves sub-second response times despite the 17.5-million-row underlying scale. It gives environmental policy makers instant access to maps, scenario comparisons, and infrastructure gaps.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we have successfully designed, built, and validated an end-to-end Big Data engineering platform for continental electronic waste analytics. We solved core domain data traps, verified dual distributed compute engines, and delivered a production-ready analytical dashboard. Thank you for your time and attention. I am now pleased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1E"/>
        </a:solidFill>
        <a:effectLst/>
      </p:bgPr>
    </p:bg>
    <p:spTree>
      <p:nvGrpSpPr>
        <p:cNvPr id="1" name=""/>
        <p:cNvGrpSpPr/>
        <p:nvPr/>
      </p:nvGrpSpPr>
      <p:grpSpPr/>
      <p:sp>
        <p:nvSpPr>
          <p:cNvPr id="2" name="TextBox 1"/>
          <p:cNvSpPr txBox="1"/>
          <p:nvPr/>
        </p:nvSpPr>
        <p:spPr>
          <a:xfrm>
            <a:off x="914400" y="1097280"/>
            <a:ext cx="10362895" cy="365760"/>
          </a:xfrm>
          <a:prstGeom prst="rect">
            <a:avLst/>
          </a:prstGeom>
          <a:noFill/>
        </p:spPr>
        <p:txBody>
          <a:bodyPr wrap="none">
            <a:spAutoFit/>
          </a:bodyPr>
          <a:lstStyle/>
          <a:p>
            <a:pPr algn="ctr">
              <a:defRPr sz="1100" b="1">
                <a:solidFill>
                  <a:srgbClr val="38BDF8"/>
                </a:solidFill>
              </a:defRPr>
            </a:pPr>
            <a:r>
              <a:t>UNIVERSITY BIG DATA ANALYTICS — FINAL ENGINEERING DEFENSE</a:t>
            </a:r>
          </a:p>
        </p:txBody>
      </p:sp>
      <p:sp>
        <p:nvSpPr>
          <p:cNvPr id="3" name="TextBox 2"/>
          <p:cNvSpPr txBox="1"/>
          <p:nvPr/>
        </p:nvSpPr>
        <p:spPr>
          <a:xfrm>
            <a:off x="914400" y="1554480"/>
            <a:ext cx="10362895" cy="1463040"/>
          </a:xfrm>
          <a:prstGeom prst="rect">
            <a:avLst/>
          </a:prstGeom>
          <a:noFill/>
        </p:spPr>
        <p:txBody>
          <a:bodyPr wrap="square">
            <a:spAutoFit/>
          </a:bodyPr>
          <a:lstStyle/>
          <a:p>
            <a:pPr algn="ctr">
              <a:defRPr sz="3000" b="1">
                <a:solidFill>
                  <a:srgbClr val="F8FAFC"/>
                </a:solidFill>
              </a:defRPr>
            </a:pPr>
            <a:r>
              <a:t>Big Data Analytics for Electronic Waste Generation</a:t>
            </a:r>
            <a:br/>
            <a:r>
              <a:t>&amp; Recycling Infrastructure Optimization</a:t>
            </a:r>
          </a:p>
        </p:txBody>
      </p:sp>
      <p:sp>
        <p:nvSpPr>
          <p:cNvPr id="4" name="TextBox 3"/>
          <p:cNvSpPr txBox="1"/>
          <p:nvPr/>
        </p:nvSpPr>
        <p:spPr>
          <a:xfrm>
            <a:off x="1371600" y="3200400"/>
            <a:ext cx="9448495" cy="731520"/>
          </a:xfrm>
          <a:prstGeom prst="rect">
            <a:avLst/>
          </a:prstGeom>
          <a:noFill/>
        </p:spPr>
        <p:txBody>
          <a:bodyPr wrap="square">
            <a:spAutoFit/>
          </a:bodyPr>
          <a:lstStyle/>
          <a:p>
            <a:pPr algn="ctr">
              <a:defRPr sz="1300">
                <a:solidFill>
                  <a:srgbClr val="94A3B8"/>
                </a:solidFill>
              </a:defRPr>
            </a:pPr>
            <a:r>
              <a:t>Continent-Scale Distributed Ingestion, Deduplication, Multi-Engine Analytics, and Geospatial Optimization over 17.52 Million European Material Flow Records</a:t>
            </a:r>
          </a:p>
        </p:txBody>
      </p:sp>
      <p:sp>
        <p:nvSpPr>
          <p:cNvPr id="5" name="Rounded Rectangle 4"/>
          <p:cNvSpPr/>
          <p:nvPr/>
        </p:nvSpPr>
        <p:spPr>
          <a:xfrm>
            <a:off x="1371600" y="4114800"/>
            <a:ext cx="9448495" cy="100584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4206240"/>
            <a:ext cx="9265615" cy="822960"/>
          </a:xfrm>
          <a:prstGeom prst="rect">
            <a:avLst/>
          </a:prstGeom>
          <a:noFill/>
        </p:spPr>
        <p:txBody>
          <a:bodyPr wrap="square">
            <a:spAutoFit/>
          </a:bodyPr>
          <a:lstStyle/>
          <a:p>
            <a:pPr algn="ctr">
              <a:defRPr sz="1200" b="1">
                <a:solidFill>
                  <a:srgbClr val="38BDF8"/>
                </a:solidFill>
              </a:defRPr>
            </a:pPr>
            <a:r>
              <a:t>• Apache Hadoop 3.5.0 (HDFS/YARN)   • Apache Spark 4.2.0 (SQL/MLlib)   • Snappy Parquet</a:t>
            </a:r>
            <a:br/>
            <a:r>
              <a:t>• MongoDB 7.0 (2dsphere Geospatial)   • Streamlit &amp; Plotly Decision Support Portal</a:t>
            </a:r>
          </a:p>
        </p:txBody>
      </p:sp>
      <p:sp>
        <p:nvSpPr>
          <p:cNvPr id="7" name="TextBox 6"/>
          <p:cNvSpPr txBox="1"/>
          <p:nvPr/>
        </p:nvSpPr>
        <p:spPr>
          <a:xfrm>
            <a:off x="1371600" y="5394960"/>
            <a:ext cx="9448495" cy="731520"/>
          </a:xfrm>
          <a:prstGeom prst="rect">
            <a:avLst/>
          </a:prstGeom>
          <a:noFill/>
        </p:spPr>
        <p:txBody>
          <a:bodyPr wrap="none">
            <a:spAutoFit/>
          </a:bodyPr>
          <a:lstStyle/>
          <a:p>
            <a:pPr algn="ctr">
              <a:defRPr sz="1100">
                <a:solidFill>
                  <a:srgbClr val="94A3B8"/>
                </a:solidFill>
              </a:defRPr>
            </a:pPr>
            <a:r>
              <a:t>Operating Environment: Omarchy Linux (12 CPU Cores, 14 GB RAM) | Dataset: EU FutuRaM (2.22 GB, 17.52M Rows)</a:t>
            </a:r>
            <a:br/>
            <a:r>
              <a:t>Live Web Dashboard: http://localhost:8501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1E"/>
        </a:solidFill>
        <a:effectLst/>
      </p:bgPr>
    </p:bg>
    <p:spTree>
      <p:nvGrpSpPr>
        <p:cNvPr id="1" name=""/>
        <p:cNvGrpSpPr/>
        <p:nvPr/>
      </p:nvGrpSpPr>
      <p:grpSpPr/>
      <p:sp>
        <p:nvSpPr>
          <p:cNvPr id="2" name="TextBox 1"/>
          <p:cNvSpPr txBox="1"/>
          <p:nvPr/>
        </p:nvSpPr>
        <p:spPr>
          <a:xfrm>
            <a:off x="731520" y="411480"/>
            <a:ext cx="7315200" cy="320040"/>
          </a:xfrm>
          <a:prstGeom prst="rect">
            <a:avLst/>
          </a:prstGeom>
          <a:noFill/>
        </p:spPr>
        <p:txBody>
          <a:bodyPr wrap="square">
            <a:spAutoFit/>
          </a:bodyPr>
          <a:lstStyle/>
          <a:p>
            <a:pPr>
              <a:defRPr sz="1000" b="1">
                <a:solidFill>
                  <a:srgbClr val="38BDF8"/>
                </a:solidFill>
                <a:latin typeface="Arial"/>
              </a:defRPr>
            </a:pPr>
            <a:r>
              <a:t>01. MOTIVATION &amp; DOMAIN CONTEXT</a:t>
            </a:r>
          </a:p>
        </p:txBody>
      </p:sp>
      <p:sp>
        <p:nvSpPr>
          <p:cNvPr id="3" name="TextBox 2"/>
          <p:cNvSpPr txBox="1"/>
          <p:nvPr/>
        </p:nvSpPr>
        <p:spPr>
          <a:xfrm>
            <a:off x="731520" y="731520"/>
            <a:ext cx="9601200" cy="548640"/>
          </a:xfrm>
          <a:prstGeom prst="rect">
            <a:avLst/>
          </a:prstGeom>
          <a:noFill/>
        </p:spPr>
        <p:txBody>
          <a:bodyPr wrap="square">
            <a:spAutoFit/>
          </a:bodyPr>
          <a:lstStyle/>
          <a:p>
            <a:pPr>
              <a:defRPr sz="2200" b="1">
                <a:solidFill>
                  <a:srgbClr val="F8FAFC"/>
                </a:solidFill>
                <a:latin typeface="Arial"/>
              </a:defRPr>
            </a:pPr>
            <a:r>
              <a:t>The Global E-Waste Challenge &amp; FutuRaM</a:t>
            </a:r>
          </a:p>
        </p:txBody>
      </p:sp>
      <p:sp>
        <p:nvSpPr>
          <p:cNvPr id="4" name="TextBox 3"/>
          <p:cNvSpPr txBox="1"/>
          <p:nvPr/>
        </p:nvSpPr>
        <p:spPr>
          <a:xfrm>
            <a:off x="731520" y="1280160"/>
            <a:ext cx="9601200" cy="320040"/>
          </a:xfrm>
          <a:prstGeom prst="rect">
            <a:avLst/>
          </a:prstGeom>
          <a:noFill/>
        </p:spPr>
        <p:txBody>
          <a:bodyPr wrap="square">
            <a:spAutoFit/>
          </a:bodyPr>
          <a:lstStyle/>
          <a:p>
            <a:pPr>
              <a:defRPr sz="1100">
                <a:solidFill>
                  <a:srgbClr val="94A3B8"/>
                </a:solidFill>
                <a:latin typeface="Arial"/>
              </a:defRPr>
            </a:pPr>
            <a:r>
              <a:t>Why continent-scale material flows demand enterprise distributed computing architectures</a:t>
            </a:r>
          </a:p>
        </p:txBody>
      </p:sp>
      <p:sp>
        <p:nvSpPr>
          <p:cNvPr id="5" name="TextBox 4"/>
          <p:cNvSpPr txBox="1"/>
          <p:nvPr/>
        </p:nvSpPr>
        <p:spPr>
          <a:xfrm>
            <a:off x="10515600" y="502920"/>
            <a:ext cx="1005840" cy="365760"/>
          </a:xfrm>
          <a:prstGeom prst="rect">
            <a:avLst/>
          </a:prstGeom>
          <a:noFill/>
        </p:spPr>
        <p:txBody>
          <a:bodyPr wrap="none">
            <a:spAutoFit/>
          </a:bodyPr>
          <a:lstStyle/>
          <a:p>
            <a:pPr algn="r">
              <a:defRPr sz="1200" b="1">
                <a:solidFill>
                  <a:srgbClr val="38BDF8"/>
                </a:solidFill>
                <a:latin typeface="Arial"/>
              </a:defRPr>
            </a:pPr>
            <a:r>
              <a:t>02 / 10</a:t>
            </a:r>
          </a:p>
        </p:txBody>
      </p:sp>
      <p:sp>
        <p:nvSpPr>
          <p:cNvPr id="6" name="Rounded Rectangle 5"/>
          <p:cNvSpPr/>
          <p:nvPr/>
        </p:nvSpPr>
        <p:spPr>
          <a:xfrm>
            <a:off x="731520" y="1737360"/>
            <a:ext cx="5120640" cy="228600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28800"/>
            <a:ext cx="4846320" cy="2103120"/>
          </a:xfrm>
          <a:prstGeom prst="rect">
            <a:avLst/>
          </a:prstGeom>
          <a:noFill/>
        </p:spPr>
        <p:txBody>
          <a:bodyPr wrap="square">
            <a:spAutoFit/>
          </a:bodyPr>
          <a:lstStyle/>
          <a:p>
            <a:pPr>
              <a:defRPr sz="1300" b="1">
                <a:solidFill>
                  <a:srgbClr val="F8FAFC"/>
                </a:solidFill>
              </a:defRPr>
            </a:pPr>
            <a:r>
              <a:t>The Dual Crisis of Electronic Waste</a:t>
            </a:r>
          </a:p>
          <a:p>
            <a:pPr>
              <a:defRPr sz="1000">
                <a:solidFill>
                  <a:srgbClr val="94A3B8"/>
                </a:solidFill>
              </a:defRPr>
            </a:pPr>
            <a:r>
              <a:t>• Fastest Growing Solid Waste Stream: 62+ million metric tons generated annually worldwide (+3% to 5% p.a.).</a:t>
            </a:r>
          </a:p>
          <a:p>
            <a:pPr>
              <a:defRPr sz="1000">
                <a:solidFill>
                  <a:srgbClr val="94A3B8"/>
                </a:solidFill>
              </a:defRPr>
            </a:pPr>
            <a:r>
              <a:t>• High Environmental Toxicity: Heavy metals (lead, mercury, cadmium) and flame retardants degrade soil and water.</a:t>
            </a:r>
          </a:p>
          <a:p>
            <a:pPr>
              <a:defRPr sz="1000">
                <a:solidFill>
                  <a:srgbClr val="94A3B8"/>
                </a:solidFill>
              </a:defRPr>
            </a:pPr>
            <a:r>
              <a:t>• Strategic Urban Goldmine: Discarded electronics contain high concentrations of Gold, Silver, Copper, and Palladium.</a:t>
            </a:r>
          </a:p>
        </p:txBody>
      </p:sp>
      <p:sp>
        <p:nvSpPr>
          <p:cNvPr id="8" name="Rounded Rectangle 7"/>
          <p:cNvSpPr/>
          <p:nvPr/>
        </p:nvSpPr>
        <p:spPr>
          <a:xfrm>
            <a:off x="731520" y="4160520"/>
            <a:ext cx="5120640" cy="210312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251960"/>
            <a:ext cx="4846320" cy="1920240"/>
          </a:xfrm>
          <a:prstGeom prst="rect">
            <a:avLst/>
          </a:prstGeom>
          <a:noFill/>
        </p:spPr>
        <p:txBody>
          <a:bodyPr wrap="square">
            <a:spAutoFit/>
          </a:bodyPr>
          <a:lstStyle/>
          <a:p>
            <a:pPr>
              <a:defRPr sz="1300" b="1">
                <a:solidFill>
                  <a:srgbClr val="F8FAFC"/>
                </a:solidFill>
              </a:defRPr>
            </a:pPr>
            <a:r>
              <a:t>Horizon Europe FutuRaM Consortium Dataset</a:t>
            </a:r>
          </a:p>
          <a:p>
            <a:pPr>
              <a:defRPr sz="1000">
                <a:solidFill>
                  <a:srgbClr val="94A3B8"/>
                </a:solidFill>
              </a:defRPr>
            </a:pPr>
            <a:r>
              <a:t>• Total Records: 17,521,915 material flow rows (~2.22 GB raw CSV).</a:t>
            </a:r>
          </a:p>
          <a:p>
            <a:pPr>
              <a:defRPr sz="1000">
                <a:solidFill>
                  <a:srgbClr val="94A3B8"/>
                </a:solidFill>
              </a:defRPr>
            </a:pPr>
            <a:r>
              <a:t>• Geographic Scope: 31 European Nations (EU-27 + UK, CHE, NOR, ISL).</a:t>
            </a:r>
          </a:p>
          <a:p>
            <a:pPr>
              <a:defRPr sz="1000">
                <a:solidFill>
                  <a:srgbClr val="94A3B8"/>
                </a:solidFill>
              </a:defRPr>
            </a:pPr>
            <a:r>
              <a:t>• Temporal Horizon: 2010 to 2050 (Historical OBS + BAU, REC, CIR).</a:t>
            </a:r>
          </a:p>
          <a:p>
            <a:pPr>
              <a:defRPr sz="1000">
                <a:solidFill>
                  <a:srgbClr val="94A3B8"/>
                </a:solidFill>
              </a:defRPr>
            </a:pPr>
            <a:r>
              <a:t>• The Big Data Bottleneck: Single-node Pandas/Excel crashes with OutOfMemoryError (&gt;16 GB RAM required for row conversion).</a:t>
            </a:r>
          </a:p>
        </p:txBody>
      </p:sp>
      <p:pic>
        <p:nvPicPr>
          <p:cNvPr id="10" name="Picture 9" descr="hero.jpg"/>
          <p:cNvPicPr>
            <a:picLocks noChangeAspect="1"/>
          </p:cNvPicPr>
          <p:nvPr/>
        </p:nvPicPr>
        <p:blipFill>
          <a:blip r:embed="rId2"/>
          <a:stretch>
            <a:fillRect/>
          </a:stretch>
        </p:blipFill>
        <p:spPr>
          <a:xfrm>
            <a:off x="6035040" y="1737360"/>
            <a:ext cx="5394960" cy="45262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1E"/>
        </a:solidFill>
        <a:effectLst/>
      </p:bgPr>
    </p:bg>
    <p:spTree>
      <p:nvGrpSpPr>
        <p:cNvPr id="1" name=""/>
        <p:cNvGrpSpPr/>
        <p:nvPr/>
      </p:nvGrpSpPr>
      <p:grpSpPr/>
      <p:sp>
        <p:nvSpPr>
          <p:cNvPr id="2" name="TextBox 1"/>
          <p:cNvSpPr txBox="1"/>
          <p:nvPr/>
        </p:nvSpPr>
        <p:spPr>
          <a:xfrm>
            <a:off x="731520" y="411480"/>
            <a:ext cx="7315200" cy="320040"/>
          </a:xfrm>
          <a:prstGeom prst="rect">
            <a:avLst/>
          </a:prstGeom>
          <a:noFill/>
        </p:spPr>
        <p:txBody>
          <a:bodyPr wrap="square">
            <a:spAutoFit/>
          </a:bodyPr>
          <a:lstStyle/>
          <a:p>
            <a:pPr>
              <a:defRPr sz="1000" b="1">
                <a:solidFill>
                  <a:srgbClr val="38BDF8"/>
                </a:solidFill>
                <a:latin typeface="Arial"/>
              </a:defRPr>
            </a:pPr>
            <a:r>
              <a:t>02. DISTRIBUTED SYSTEM ENGINEERING</a:t>
            </a:r>
          </a:p>
        </p:txBody>
      </p:sp>
      <p:sp>
        <p:nvSpPr>
          <p:cNvPr id="3" name="TextBox 2"/>
          <p:cNvSpPr txBox="1"/>
          <p:nvPr/>
        </p:nvSpPr>
        <p:spPr>
          <a:xfrm>
            <a:off x="731520" y="731520"/>
            <a:ext cx="9601200" cy="548640"/>
          </a:xfrm>
          <a:prstGeom prst="rect">
            <a:avLst/>
          </a:prstGeom>
          <a:noFill/>
        </p:spPr>
        <p:txBody>
          <a:bodyPr wrap="square">
            <a:spAutoFit/>
          </a:bodyPr>
          <a:lstStyle/>
          <a:p>
            <a:pPr>
              <a:defRPr sz="2200" b="1">
                <a:solidFill>
                  <a:srgbClr val="F8FAFC"/>
                </a:solidFill>
                <a:latin typeface="Arial"/>
              </a:defRPr>
            </a:pPr>
            <a:r>
              <a:t>End-to-End Lakehouse Architecture &amp; Lineage</a:t>
            </a:r>
          </a:p>
        </p:txBody>
      </p:sp>
      <p:sp>
        <p:nvSpPr>
          <p:cNvPr id="4" name="TextBox 3"/>
          <p:cNvSpPr txBox="1"/>
          <p:nvPr/>
        </p:nvSpPr>
        <p:spPr>
          <a:xfrm>
            <a:off x="731520" y="1280160"/>
            <a:ext cx="9601200" cy="320040"/>
          </a:xfrm>
          <a:prstGeom prst="rect">
            <a:avLst/>
          </a:prstGeom>
          <a:noFill/>
        </p:spPr>
        <p:txBody>
          <a:bodyPr wrap="square">
            <a:spAutoFit/>
          </a:bodyPr>
          <a:lstStyle/>
          <a:p>
            <a:pPr>
              <a:defRPr sz="1100">
                <a:solidFill>
                  <a:srgbClr val="94A3B8"/>
                </a:solidFill>
                <a:latin typeface="Arial"/>
              </a:defRPr>
            </a:pPr>
            <a:r>
              <a:t>Zero-sudo user-space cluster orchestrating HDFS, Spark, YARN, and MongoDB</a:t>
            </a:r>
          </a:p>
        </p:txBody>
      </p:sp>
      <p:sp>
        <p:nvSpPr>
          <p:cNvPr id="5" name="TextBox 4"/>
          <p:cNvSpPr txBox="1"/>
          <p:nvPr/>
        </p:nvSpPr>
        <p:spPr>
          <a:xfrm>
            <a:off x="10515600" y="502920"/>
            <a:ext cx="1005840" cy="365760"/>
          </a:xfrm>
          <a:prstGeom prst="rect">
            <a:avLst/>
          </a:prstGeom>
          <a:noFill/>
        </p:spPr>
        <p:txBody>
          <a:bodyPr wrap="none">
            <a:spAutoFit/>
          </a:bodyPr>
          <a:lstStyle/>
          <a:p>
            <a:pPr algn="r">
              <a:defRPr sz="1200" b="1">
                <a:solidFill>
                  <a:srgbClr val="38BDF8"/>
                </a:solidFill>
                <a:latin typeface="Arial"/>
              </a:defRPr>
            </a:pPr>
            <a:r>
              <a:t>03 / 10</a:t>
            </a:r>
          </a:p>
        </p:txBody>
      </p:sp>
      <p:sp>
        <p:nvSpPr>
          <p:cNvPr id="6" name="Rounded Rectangle 5"/>
          <p:cNvSpPr/>
          <p:nvPr/>
        </p:nvSpPr>
        <p:spPr>
          <a:xfrm>
            <a:off x="731520" y="1737360"/>
            <a:ext cx="6217920" cy="452628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28800"/>
            <a:ext cx="5943600" cy="4297680"/>
          </a:xfrm>
          <a:prstGeom prst="rect">
            <a:avLst/>
          </a:prstGeom>
          <a:noFill/>
        </p:spPr>
        <p:txBody>
          <a:bodyPr wrap="square">
            <a:spAutoFit/>
          </a:bodyPr>
          <a:lstStyle/>
          <a:p>
            <a:pPr>
              <a:defRPr sz="1300" b="1">
                <a:solidFill>
                  <a:srgbClr val="F8FAFC"/>
                </a:solidFill>
              </a:defRPr>
            </a:pPr>
            <a:r>
              <a:t>Complete Data Pipeline Execution Flow</a:t>
            </a:r>
          </a:p>
          <a:p>
            <a:pPr>
              <a:defRPr sz="950">
                <a:solidFill>
                  <a:srgbClr val="94A3B8"/>
                </a:solidFill>
              </a:defRPr>
            </a:pPr>
            <a:r>
              <a:t>1. Raw HDFS Ingestion: Discovers local CSV (2.22 GB) and ingests into HDFS across 128MB blocks.</a:t>
            </a:r>
          </a:p>
          <a:p>
            <a:pPr>
              <a:defRPr sz="950">
                <a:solidFill>
                  <a:srgbClr val="94A3B8"/>
                </a:solidFill>
              </a:defRPr>
            </a:pPr>
            <a:r>
              <a:t>2. Streaming Data Profiler: Audits 17.52M rows in fixed memory (&lt;120MB RAM) in 128s. Zero errors.</a:t>
            </a:r>
          </a:p>
          <a:p>
            <a:pPr>
              <a:defRPr sz="950">
                <a:solidFill>
                  <a:srgbClr val="94A3B8"/>
                </a:solidFill>
              </a:defRPr>
            </a:pPr>
            <a:r>
              <a:t>3. PySpark ETL &amp; Deduplication: Filters Layer 2 == '', isolating 139,963 Level-1 summary rows.</a:t>
            </a:r>
          </a:p>
          <a:p>
            <a:pPr>
              <a:defRPr sz="950">
                <a:solidFill>
                  <a:srgbClr val="94A3B8"/>
                </a:solidFill>
              </a:defRPr>
            </a:pPr>
            <a:r>
              <a:t>4. Snappy Parquet Generation: Creates partitioned columnar tables (yearly, location, category, scenario, flow).</a:t>
            </a:r>
          </a:p>
          <a:p>
            <a:pPr>
              <a:defRPr sz="950">
                <a:solidFill>
                  <a:srgbClr val="94A3B8"/>
                </a:solidFill>
              </a:defRPr>
            </a:pPr>
            <a:r>
              <a:t>5. Dual Compute Processing: Hadoop Streaming on YARN (MapReduce) + Spark SQL analytical queries.</a:t>
            </a:r>
          </a:p>
          <a:p>
            <a:pPr>
              <a:defRPr sz="950">
                <a:solidFill>
                  <a:srgbClr val="94A3B8"/>
                </a:solidFill>
              </a:defRPr>
            </a:pPr>
            <a:r>
              <a:t>6. MLlib Linear Regression: Fits temporal model on OBS actuals (2010–2022) predicting waste to 2035 (R² = 0.841).</a:t>
            </a:r>
          </a:p>
          <a:p>
            <a:pPr>
              <a:defRPr sz="950">
                <a:solidFill>
                  <a:srgbClr val="94A3B8"/>
                </a:solidFill>
              </a:defRPr>
            </a:pPr>
            <a:r>
              <a:t>7. MongoDB Geospatial Layer: Seeds 18 European recycling facilities with compound 2dsphere index.</a:t>
            </a:r>
          </a:p>
          <a:p>
            <a:pPr>
              <a:defRPr sz="950">
                <a:solidFill>
                  <a:srgbClr val="94A3B8"/>
                </a:solidFill>
              </a:defRPr>
            </a:pPr>
            <a:r>
              <a:t>8. Interactive Serving: 8-Page Streamlit dashboard (port 8501) with sub-second response times.</a:t>
            </a:r>
          </a:p>
        </p:txBody>
      </p:sp>
      <p:pic>
        <p:nvPicPr>
          <p:cNvPr id="8" name="Picture 7" descr="architecture.jpg"/>
          <p:cNvPicPr>
            <a:picLocks noChangeAspect="1"/>
          </p:cNvPicPr>
          <p:nvPr/>
        </p:nvPicPr>
        <p:blipFill>
          <a:blip r:embed="rId2"/>
          <a:stretch>
            <a:fillRect/>
          </a:stretch>
        </p:blipFill>
        <p:spPr>
          <a:xfrm>
            <a:off x="7132320" y="1737360"/>
            <a:ext cx="4297680" cy="45262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1E"/>
        </a:solidFill>
        <a:effectLst/>
      </p:bgPr>
    </p:bg>
    <p:spTree>
      <p:nvGrpSpPr>
        <p:cNvPr id="1" name=""/>
        <p:cNvGrpSpPr/>
        <p:nvPr/>
      </p:nvGrpSpPr>
      <p:grpSpPr/>
      <p:sp>
        <p:nvSpPr>
          <p:cNvPr id="2" name="TextBox 1"/>
          <p:cNvSpPr txBox="1"/>
          <p:nvPr/>
        </p:nvSpPr>
        <p:spPr>
          <a:xfrm>
            <a:off x="731520" y="411480"/>
            <a:ext cx="7315200" cy="320040"/>
          </a:xfrm>
          <a:prstGeom prst="rect">
            <a:avLst/>
          </a:prstGeom>
          <a:noFill/>
        </p:spPr>
        <p:txBody>
          <a:bodyPr wrap="square">
            <a:spAutoFit/>
          </a:bodyPr>
          <a:lstStyle/>
          <a:p>
            <a:pPr>
              <a:defRPr sz="1000" b="1">
                <a:solidFill>
                  <a:srgbClr val="38BDF8"/>
                </a:solidFill>
                <a:latin typeface="Arial"/>
              </a:defRPr>
            </a:pPr>
            <a:r>
              <a:t>03. BIG DATA ENGINEERING CHALLENGE</a:t>
            </a:r>
          </a:p>
        </p:txBody>
      </p:sp>
      <p:sp>
        <p:nvSpPr>
          <p:cNvPr id="3" name="TextBox 2"/>
          <p:cNvSpPr txBox="1"/>
          <p:nvPr/>
        </p:nvSpPr>
        <p:spPr>
          <a:xfrm>
            <a:off x="731520" y="731520"/>
            <a:ext cx="9601200" cy="548640"/>
          </a:xfrm>
          <a:prstGeom prst="rect">
            <a:avLst/>
          </a:prstGeom>
          <a:noFill/>
        </p:spPr>
        <p:txBody>
          <a:bodyPr wrap="square">
            <a:spAutoFit/>
          </a:bodyPr>
          <a:lstStyle/>
          <a:p>
            <a:pPr>
              <a:defRPr sz="2200" b="1">
                <a:solidFill>
                  <a:srgbClr val="F8FAFC"/>
                </a:solidFill>
                <a:latin typeface="Arial"/>
              </a:defRPr>
            </a:pPr>
            <a:r>
              <a:t>The Hierarchical Deduplication Trap</a:t>
            </a:r>
          </a:p>
        </p:txBody>
      </p:sp>
      <p:sp>
        <p:nvSpPr>
          <p:cNvPr id="4" name="TextBox 3"/>
          <p:cNvSpPr txBox="1"/>
          <p:nvPr/>
        </p:nvSpPr>
        <p:spPr>
          <a:xfrm>
            <a:off x="731520" y="1280160"/>
            <a:ext cx="9601200" cy="320040"/>
          </a:xfrm>
          <a:prstGeom prst="rect">
            <a:avLst/>
          </a:prstGeom>
          <a:noFill/>
        </p:spPr>
        <p:txBody>
          <a:bodyPr wrap="square">
            <a:spAutoFit/>
          </a:bodyPr>
          <a:lstStyle/>
          <a:p>
            <a:pPr>
              <a:defRPr sz="1100">
                <a:solidFill>
                  <a:srgbClr val="94A3B8"/>
                </a:solidFill>
                <a:latin typeface="Arial"/>
              </a:defRPr>
            </a:pPr>
            <a:r>
              <a:t>Solving multi-million-ton double counting in secondary material flow databases</a:t>
            </a:r>
          </a:p>
        </p:txBody>
      </p:sp>
      <p:sp>
        <p:nvSpPr>
          <p:cNvPr id="5" name="TextBox 4"/>
          <p:cNvSpPr txBox="1"/>
          <p:nvPr/>
        </p:nvSpPr>
        <p:spPr>
          <a:xfrm>
            <a:off x="10515600" y="502920"/>
            <a:ext cx="1005840" cy="365760"/>
          </a:xfrm>
          <a:prstGeom prst="rect">
            <a:avLst/>
          </a:prstGeom>
          <a:noFill/>
        </p:spPr>
        <p:txBody>
          <a:bodyPr wrap="none">
            <a:spAutoFit/>
          </a:bodyPr>
          <a:lstStyle/>
          <a:p>
            <a:pPr algn="r">
              <a:defRPr sz="1200" b="1">
                <a:solidFill>
                  <a:srgbClr val="38BDF8"/>
                </a:solidFill>
                <a:latin typeface="Arial"/>
              </a:defRPr>
            </a:pPr>
            <a:r>
              <a:t>04 / 10</a:t>
            </a:r>
          </a:p>
        </p:txBody>
      </p:sp>
      <p:sp>
        <p:nvSpPr>
          <p:cNvPr id="6" name="Rounded Rectangle 5"/>
          <p:cNvSpPr/>
          <p:nvPr/>
        </p:nvSpPr>
        <p:spPr>
          <a:xfrm>
            <a:off x="731520" y="1737360"/>
            <a:ext cx="5120640" cy="2377440"/>
          </a:xfrm>
          <a:prstGeom prst="roundRect">
            <a:avLst/>
          </a:prstGeom>
          <a:solidFill>
            <a:srgbClr val="131D31"/>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28800"/>
            <a:ext cx="4846320" cy="2194560"/>
          </a:xfrm>
          <a:prstGeom prst="rect">
            <a:avLst/>
          </a:prstGeom>
          <a:noFill/>
        </p:spPr>
        <p:txBody>
          <a:bodyPr wrap="square">
            <a:spAutoFit/>
          </a:bodyPr>
          <a:lstStyle/>
          <a:p>
            <a:pPr>
              <a:defRPr sz="1300" b="1">
                <a:solidFill>
                  <a:srgbClr val="F43F5E"/>
                </a:solidFill>
              </a:defRPr>
            </a:pPr>
            <a:r>
              <a:t>The Double-Counting Trap in Raw Material Flows</a:t>
            </a:r>
          </a:p>
          <a:p>
            <a:pPr>
              <a:defRPr sz="950">
                <a:solidFill>
                  <a:srgbClr val="94A3B8"/>
                </a:solidFill>
              </a:defRPr>
            </a:pPr>
            <a:r>
              <a:t>In raw FutuRaM tables, parent categories and sub-assemblies coexist:</a:t>
            </a:r>
            <a:br/>
            <a:r>
              <a:t>• Row 1: Cat1 (Refrigerator) | Layer 2 = '' | Value = 40.0 Mg [WHOLE]</a:t>
            </a:r>
            <a:br/>
            <a:r>
              <a:t>• Row 2: Cat1 (Refrigerator) | Layer 2 = 'Compressor' | Value = 12.0 Mg</a:t>
            </a:r>
            <a:br/>
            <a:r>
              <a:t>• Row 3: Cat1 (Refrigerator) | Layer 2 = 'Foam' | Value = 8.0 Mg</a:t>
            </a:r>
            <a:br/>
            <a:r>
              <a:t>• Row 4: Cat1 (Refrigerator) | Layer 2 = 'Copper' | Value = 2.0 Mg</a:t>
            </a:r>
            <a:br/>
            <a:r>
              <a:t>Naive SUM = 40 + 12 + 8 + 2 = 62 Mg (55% TO 100% FALSE INFLATION!)</a:t>
            </a:r>
          </a:p>
        </p:txBody>
      </p:sp>
      <p:sp>
        <p:nvSpPr>
          <p:cNvPr id="8" name="Rounded Rectangle 7"/>
          <p:cNvSpPr/>
          <p:nvPr/>
        </p:nvSpPr>
        <p:spPr>
          <a:xfrm>
            <a:off x="731520" y="4251960"/>
            <a:ext cx="5120640" cy="2011680"/>
          </a:xfrm>
          <a:prstGeom prst="roundRect">
            <a:avLst/>
          </a:prstGeom>
          <a:solidFill>
            <a:srgbClr val="131D31"/>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343400"/>
            <a:ext cx="4846320" cy="1828800"/>
          </a:xfrm>
          <a:prstGeom prst="rect">
            <a:avLst/>
          </a:prstGeom>
          <a:noFill/>
        </p:spPr>
        <p:txBody>
          <a:bodyPr wrap="square">
            <a:spAutoFit/>
          </a:bodyPr>
          <a:lstStyle/>
          <a:p>
            <a:pPr>
              <a:defRPr sz="1300" b="1">
                <a:solidFill>
                  <a:srgbClr val="10B981"/>
                </a:solidFill>
              </a:defRPr>
            </a:pPr>
            <a:r>
              <a:t>The PySpark Deduplication Solution</a:t>
            </a:r>
          </a:p>
          <a:p>
            <a:pPr>
              <a:defRPr sz="950">
                <a:solidFill>
                  <a:srgbClr val="38BDF8"/>
                </a:solidFill>
              </a:defRPr>
            </a:pPr>
            <a:r>
              <a:t># Strictly filter for Level-1 summary rows where Layer 2 is blank</a:t>
            </a:r>
            <a:br/>
            <a:r>
              <a:t>summary_df = cleaned_df.filter(</a:t>
            </a:r>
            <a:br/>
            <a:r>
              <a:t>    col('Layer2').isNull() | (col('Layer2') == '') | (col('Layer2') == 'null')</a:t>
            </a:r>
            <a:br/>
            <a:r>
              <a:t>).cache()</a:t>
            </a:r>
            <a:br/>
            <a:r>
              <a:t># Isolates exactly 139,963 clean records from 17.52 million rows.</a:t>
            </a:r>
          </a:p>
        </p:txBody>
      </p:sp>
      <p:sp>
        <p:nvSpPr>
          <p:cNvPr id="10" name="Rounded Rectangle 9"/>
          <p:cNvSpPr/>
          <p:nvPr/>
        </p:nvSpPr>
        <p:spPr>
          <a:xfrm>
            <a:off x="6035040" y="1737360"/>
            <a:ext cx="5394960" cy="452628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828800"/>
            <a:ext cx="5029200" cy="4297680"/>
          </a:xfrm>
          <a:prstGeom prst="rect">
            <a:avLst/>
          </a:prstGeom>
          <a:noFill/>
        </p:spPr>
        <p:txBody>
          <a:bodyPr wrap="square">
            <a:spAutoFit/>
          </a:bodyPr>
          <a:lstStyle/>
          <a:p>
            <a:pPr>
              <a:defRPr sz="1300" b="1">
                <a:solidFill>
                  <a:srgbClr val="F8FAFC"/>
                </a:solidFill>
              </a:defRPr>
            </a:pPr>
            <a:r>
              <a:t>Streaming Data Quality Profiler &amp; Parquet Benefits</a:t>
            </a:r>
          </a:p>
          <a:p>
            <a:pPr>
              <a:defRPr sz="1000">
                <a:solidFill>
                  <a:srgbClr val="94A3B8"/>
                </a:solidFill>
              </a:defRPr>
            </a:pPr>
            <a:r>
              <a:t>Streaming Quality Audit Results (scripts/profile_dataset.py):</a:t>
            </a:r>
            <a:br/>
            <a:r>
              <a:t>• Audited Records: 17,521,915 rows in 128.12s</a:t>
            </a:r>
            <a:br/>
            <a:r>
              <a:t>• Invalid Numeric Records: 0 (100% Data Integrity)</a:t>
            </a:r>
            <a:br/>
            <a:r>
              <a:t>• True Category Summaries: 139,963 records</a:t>
            </a:r>
            <a:br/>
            <a:r>
              <a:t>• Memory Consumption: &lt;120 MB RAM (streaming generator)</a:t>
            </a:r>
            <a:br/>
            <a:br/>
            <a:r>
              <a:t>Why Snappy Columnar Parquet?</a:t>
            </a:r>
            <a:br/>
            <a:r>
              <a:t>• Column Pruning: Reads only requested columns from disk.</a:t>
            </a:r>
            <a:br/>
            <a:r>
              <a:t>• Predicate Pushdown: Skips row groups based on min/max stats.</a:t>
            </a:r>
            <a:br/>
            <a:r>
              <a:t>• Analytical Speedup: Query latency dropped from 90+s to &lt;1s.</a:t>
            </a:r>
            <a:br/>
            <a:r>
              <a:t>• Storage Compression: Substantial disk footprint reduction.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1E"/>
        </a:solidFill>
        <a:effectLst/>
      </p:bgPr>
    </p:bg>
    <p:spTree>
      <p:nvGrpSpPr>
        <p:cNvPr id="1" name=""/>
        <p:cNvGrpSpPr/>
        <p:nvPr/>
      </p:nvGrpSpPr>
      <p:grpSpPr/>
      <p:sp>
        <p:nvSpPr>
          <p:cNvPr id="2" name="TextBox 1"/>
          <p:cNvSpPr txBox="1"/>
          <p:nvPr/>
        </p:nvSpPr>
        <p:spPr>
          <a:xfrm>
            <a:off x="731520" y="411480"/>
            <a:ext cx="7315200" cy="320040"/>
          </a:xfrm>
          <a:prstGeom prst="rect">
            <a:avLst/>
          </a:prstGeom>
          <a:noFill/>
        </p:spPr>
        <p:txBody>
          <a:bodyPr wrap="square">
            <a:spAutoFit/>
          </a:bodyPr>
          <a:lstStyle/>
          <a:p>
            <a:pPr>
              <a:defRPr sz="1000" b="1">
                <a:solidFill>
                  <a:srgbClr val="38BDF8"/>
                </a:solidFill>
                <a:latin typeface="Arial"/>
              </a:defRPr>
            </a:pPr>
            <a:r>
              <a:t>04. DISTRIBUTED PROCESSING</a:t>
            </a:r>
          </a:p>
        </p:txBody>
      </p:sp>
      <p:sp>
        <p:nvSpPr>
          <p:cNvPr id="3" name="TextBox 2"/>
          <p:cNvSpPr txBox="1"/>
          <p:nvPr/>
        </p:nvSpPr>
        <p:spPr>
          <a:xfrm>
            <a:off x="731520" y="731520"/>
            <a:ext cx="9601200" cy="548640"/>
          </a:xfrm>
          <a:prstGeom prst="rect">
            <a:avLst/>
          </a:prstGeom>
          <a:noFill/>
        </p:spPr>
        <p:txBody>
          <a:bodyPr wrap="square">
            <a:spAutoFit/>
          </a:bodyPr>
          <a:lstStyle/>
          <a:p>
            <a:pPr>
              <a:defRPr sz="2200" b="1">
                <a:solidFill>
                  <a:srgbClr val="F8FAFC"/>
                </a:solidFill>
                <a:latin typeface="Arial"/>
              </a:defRPr>
            </a:pPr>
            <a:r>
              <a:t>Dual Compute: Hadoop MapReduce vs Spark</a:t>
            </a:r>
          </a:p>
        </p:txBody>
      </p:sp>
      <p:sp>
        <p:nvSpPr>
          <p:cNvPr id="4" name="TextBox 3"/>
          <p:cNvSpPr txBox="1"/>
          <p:nvPr/>
        </p:nvSpPr>
        <p:spPr>
          <a:xfrm>
            <a:off x="731520" y="1280160"/>
            <a:ext cx="9601200" cy="320040"/>
          </a:xfrm>
          <a:prstGeom prst="rect">
            <a:avLst/>
          </a:prstGeom>
          <a:noFill/>
        </p:spPr>
        <p:txBody>
          <a:bodyPr wrap="square">
            <a:spAutoFit/>
          </a:bodyPr>
          <a:lstStyle/>
          <a:p>
            <a:pPr>
              <a:defRPr sz="1100">
                <a:solidFill>
                  <a:srgbClr val="94A3B8"/>
                </a:solidFill>
                <a:latin typeface="Arial"/>
              </a:defRPr>
            </a:pPr>
            <a:r>
              <a:t>Benchmarking low-level batch MapReduce on YARN against in-memory Spark SQL</a:t>
            </a:r>
          </a:p>
        </p:txBody>
      </p:sp>
      <p:sp>
        <p:nvSpPr>
          <p:cNvPr id="5" name="TextBox 4"/>
          <p:cNvSpPr txBox="1"/>
          <p:nvPr/>
        </p:nvSpPr>
        <p:spPr>
          <a:xfrm>
            <a:off x="10515600" y="502920"/>
            <a:ext cx="1005840" cy="365760"/>
          </a:xfrm>
          <a:prstGeom prst="rect">
            <a:avLst/>
          </a:prstGeom>
          <a:noFill/>
        </p:spPr>
        <p:txBody>
          <a:bodyPr wrap="none">
            <a:spAutoFit/>
          </a:bodyPr>
          <a:lstStyle/>
          <a:p>
            <a:pPr algn="r">
              <a:defRPr sz="1200" b="1">
                <a:solidFill>
                  <a:srgbClr val="38BDF8"/>
                </a:solidFill>
                <a:latin typeface="Arial"/>
              </a:defRPr>
            </a:pPr>
            <a:r>
              <a:t>05 / 10</a:t>
            </a:r>
          </a:p>
        </p:txBody>
      </p:sp>
      <p:sp>
        <p:nvSpPr>
          <p:cNvPr id="6" name="Rounded Rectangle 5"/>
          <p:cNvSpPr/>
          <p:nvPr/>
        </p:nvSpPr>
        <p:spPr>
          <a:xfrm>
            <a:off x="731520" y="1737360"/>
            <a:ext cx="5120640" cy="329184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28800"/>
            <a:ext cx="4846320" cy="3108960"/>
          </a:xfrm>
          <a:prstGeom prst="rect">
            <a:avLst/>
          </a:prstGeom>
          <a:noFill/>
        </p:spPr>
        <p:txBody>
          <a:bodyPr wrap="square">
            <a:spAutoFit/>
          </a:bodyPr>
          <a:lstStyle/>
          <a:p>
            <a:pPr>
              <a:defRPr sz="1300" b="1">
                <a:solidFill>
                  <a:srgbClr val="F8FAFC"/>
                </a:solidFill>
              </a:defRPr>
            </a:pPr>
            <a:r>
              <a:t>Hadoop MapReduce Streaming on YARN</a:t>
            </a:r>
          </a:p>
          <a:p>
            <a:pPr>
              <a:defRPr sz="1000">
                <a:solidFill>
                  <a:srgbClr val="94A3B8"/>
                </a:solidFill>
              </a:defRPr>
            </a:pPr>
            <a:r>
              <a:t>• Native Hadoop Streaming: Uses standard UNIX STDIN/STDOUT via hadoop-streaming-3.5.0.jar.</a:t>
            </a:r>
          </a:p>
          <a:p>
            <a:pPr>
              <a:defRPr sz="1000">
                <a:solidFill>
                  <a:srgbClr val="94A3B8"/>
                </a:solidFill>
              </a:defRPr>
            </a:pPr>
            <a:r>
              <a:t>• Input Splitting: YARN splits 2.22 GB input into 17 blocks (~128MB each) executed in parallel.</a:t>
            </a:r>
          </a:p>
          <a:p>
            <a:pPr>
              <a:defRPr sz="1000">
                <a:solidFill>
                  <a:srgbClr val="94A3B8"/>
                </a:solidFill>
              </a:defRPr>
            </a:pPr>
            <a:r>
              <a:t>• Stateful Reducer: Accumulates running sum per nation key during network shuffle &amp; sort.</a:t>
            </a:r>
          </a:p>
          <a:p>
            <a:pPr>
              <a:defRPr sz="1000">
                <a:solidFill>
                  <a:srgbClr val="94A3B8"/>
                </a:solidFill>
              </a:defRPr>
            </a:pPr>
            <a:r>
              <a:t>• Benchmark Runtime: 140 seconds (map 100% reduce 100%).</a:t>
            </a:r>
          </a:p>
        </p:txBody>
      </p:sp>
      <p:sp>
        <p:nvSpPr>
          <p:cNvPr id="8" name="Rounded Rectangle 7"/>
          <p:cNvSpPr/>
          <p:nvPr/>
        </p:nvSpPr>
        <p:spPr>
          <a:xfrm>
            <a:off x="6035040" y="1737360"/>
            <a:ext cx="5394960" cy="329184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828800"/>
            <a:ext cx="5029200" cy="3108960"/>
          </a:xfrm>
          <a:prstGeom prst="rect">
            <a:avLst/>
          </a:prstGeom>
          <a:noFill/>
        </p:spPr>
        <p:txBody>
          <a:bodyPr wrap="square">
            <a:spAutoFit/>
          </a:bodyPr>
          <a:lstStyle/>
          <a:p>
            <a:pPr>
              <a:defRPr sz="1300" b="1">
                <a:solidFill>
                  <a:srgbClr val="F8FAFC"/>
                </a:solidFill>
              </a:defRPr>
            </a:pPr>
            <a:r>
              <a:t>Apache Spark 4.2.0 In-Memory Engine</a:t>
            </a:r>
          </a:p>
          <a:p>
            <a:pPr>
              <a:defRPr sz="1000">
                <a:solidFill>
                  <a:srgbClr val="94A3B8"/>
                </a:solidFill>
              </a:defRPr>
            </a:pPr>
            <a:r>
              <a:t>• In-Memory DAG: Eliminates intermediate disk writes by caching DataFrames directly in RAM.</a:t>
            </a:r>
          </a:p>
          <a:p>
            <a:pPr>
              <a:defRPr sz="1000">
                <a:solidFill>
                  <a:srgbClr val="94A3B8"/>
                </a:solidFill>
              </a:defRPr>
            </a:pPr>
            <a:r>
              <a:t>• Catalyst Optimizer: Generates optimized physical plans, pushing filters into Parquet scan.</a:t>
            </a:r>
          </a:p>
          <a:p>
            <a:pPr>
              <a:defRPr sz="1000">
                <a:solidFill>
                  <a:srgbClr val="94A3B8"/>
                </a:solidFill>
              </a:defRPr>
            </a:pPr>
            <a:r>
              <a:t>• Tungsten Engine: Generates compact JVM bytecode for memory and CPU efficiency.</a:t>
            </a:r>
          </a:p>
          <a:p>
            <a:pPr>
              <a:defRPr sz="1000">
                <a:solidFill>
                  <a:srgbClr val="94A3B8"/>
                </a:solidFill>
              </a:defRPr>
            </a:pPr>
            <a:r>
              <a:t>• Benchmark Runtime: 93 seconds (complete multi-table ETL across 17.5M records).</a:t>
            </a:r>
          </a:p>
        </p:txBody>
      </p:sp>
      <p:sp>
        <p:nvSpPr>
          <p:cNvPr id="10" name="Rounded Rectangle 9"/>
          <p:cNvSpPr/>
          <p:nvPr/>
        </p:nvSpPr>
        <p:spPr>
          <a:xfrm>
            <a:off x="731520" y="5166360"/>
            <a:ext cx="10698480" cy="1097280"/>
          </a:xfrm>
          <a:prstGeom prst="roundRect">
            <a:avLst/>
          </a:prstGeom>
          <a:solidFill>
            <a:srgbClr val="131D31"/>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257800"/>
            <a:ext cx="10424160" cy="914400"/>
          </a:xfrm>
          <a:prstGeom prst="rect">
            <a:avLst/>
          </a:prstGeom>
          <a:noFill/>
        </p:spPr>
        <p:txBody>
          <a:bodyPr wrap="square">
            <a:spAutoFit/>
          </a:bodyPr>
          <a:lstStyle/>
          <a:p>
            <a:pPr>
              <a:defRPr sz="1200" b="1">
                <a:solidFill>
                  <a:srgbClr val="10B981"/>
                </a:solidFill>
              </a:defRPr>
            </a:pPr>
            <a:r>
              <a:t>Empirical Validation &amp; Numerical Parity Across Engines</a:t>
            </a:r>
          </a:p>
          <a:p>
            <a:pPr>
              <a:defRPr sz="1000">
                <a:solidFill>
                  <a:srgbClr val="F8FAFC"/>
                </a:solidFill>
              </a:defRPr>
            </a:pPr>
            <a:r>
              <a:t>Both MapReduce and Spark SQL produced identical country totals down to the exact decimal:</a:t>
            </a:r>
            <a:br/>
            <a:r>
              <a:t>United Kingdom: 302,467,302.27 Mg | Germany: 299,730,670.33 Mg | France: 233,664,421.23 Mg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1E"/>
        </a:solidFill>
        <a:effectLst/>
      </p:bgPr>
    </p:bg>
    <p:spTree>
      <p:nvGrpSpPr>
        <p:cNvPr id="1" name=""/>
        <p:cNvGrpSpPr/>
        <p:nvPr/>
      </p:nvGrpSpPr>
      <p:grpSpPr/>
      <p:sp>
        <p:nvSpPr>
          <p:cNvPr id="2" name="TextBox 1"/>
          <p:cNvSpPr txBox="1"/>
          <p:nvPr/>
        </p:nvSpPr>
        <p:spPr>
          <a:xfrm>
            <a:off x="731520" y="411480"/>
            <a:ext cx="7315200" cy="320040"/>
          </a:xfrm>
          <a:prstGeom prst="rect">
            <a:avLst/>
          </a:prstGeom>
          <a:noFill/>
        </p:spPr>
        <p:txBody>
          <a:bodyPr wrap="square">
            <a:spAutoFit/>
          </a:bodyPr>
          <a:lstStyle/>
          <a:p>
            <a:pPr>
              <a:defRPr sz="1000" b="1">
                <a:solidFill>
                  <a:srgbClr val="38BDF8"/>
                </a:solidFill>
                <a:latin typeface="Arial"/>
              </a:defRPr>
            </a:pPr>
            <a:r>
              <a:t>05. ANALYTICAL RESULTS &amp; INSIGHTS</a:t>
            </a:r>
          </a:p>
        </p:txBody>
      </p:sp>
      <p:sp>
        <p:nvSpPr>
          <p:cNvPr id="3" name="TextBox 2"/>
          <p:cNvSpPr txBox="1"/>
          <p:nvPr/>
        </p:nvSpPr>
        <p:spPr>
          <a:xfrm>
            <a:off x="731520" y="731520"/>
            <a:ext cx="9601200" cy="548640"/>
          </a:xfrm>
          <a:prstGeom prst="rect">
            <a:avLst/>
          </a:prstGeom>
          <a:noFill/>
        </p:spPr>
        <p:txBody>
          <a:bodyPr wrap="square">
            <a:spAutoFit/>
          </a:bodyPr>
          <a:lstStyle/>
          <a:p>
            <a:pPr>
              <a:defRPr sz="2200" b="1">
                <a:solidFill>
                  <a:srgbClr val="F8FAFC"/>
                </a:solidFill>
                <a:latin typeface="Arial"/>
              </a:defRPr>
            </a:pPr>
            <a:r>
              <a:t>Spark SQL Multi-Dimensional Analytics</a:t>
            </a:r>
          </a:p>
        </p:txBody>
      </p:sp>
      <p:sp>
        <p:nvSpPr>
          <p:cNvPr id="4" name="TextBox 3"/>
          <p:cNvSpPr txBox="1"/>
          <p:nvPr/>
        </p:nvSpPr>
        <p:spPr>
          <a:xfrm>
            <a:off x="731520" y="1280160"/>
            <a:ext cx="9601200" cy="320040"/>
          </a:xfrm>
          <a:prstGeom prst="rect">
            <a:avLst/>
          </a:prstGeom>
          <a:noFill/>
        </p:spPr>
        <p:txBody>
          <a:bodyPr wrap="square">
            <a:spAutoFit/>
          </a:bodyPr>
          <a:lstStyle/>
          <a:p>
            <a:pPr>
              <a:defRPr sz="1100">
                <a:solidFill>
                  <a:srgbClr val="94A3B8"/>
                </a:solidFill>
                <a:latin typeface="Arial"/>
              </a:defRPr>
            </a:pPr>
            <a:r>
              <a:t>Empirical findings across 31 countries, 7 product categories, and 8 flow taxonomies</a:t>
            </a:r>
          </a:p>
        </p:txBody>
      </p:sp>
      <p:sp>
        <p:nvSpPr>
          <p:cNvPr id="5" name="TextBox 4"/>
          <p:cNvSpPr txBox="1"/>
          <p:nvPr/>
        </p:nvSpPr>
        <p:spPr>
          <a:xfrm>
            <a:off x="10515600" y="502920"/>
            <a:ext cx="1005840" cy="365760"/>
          </a:xfrm>
          <a:prstGeom prst="rect">
            <a:avLst/>
          </a:prstGeom>
          <a:noFill/>
        </p:spPr>
        <p:txBody>
          <a:bodyPr wrap="none">
            <a:spAutoFit/>
          </a:bodyPr>
          <a:lstStyle/>
          <a:p>
            <a:pPr algn="r">
              <a:defRPr sz="1200" b="1">
                <a:solidFill>
                  <a:srgbClr val="38BDF8"/>
                </a:solidFill>
                <a:latin typeface="Arial"/>
              </a:defRPr>
            </a:pPr>
            <a:r>
              <a:t>06 / 10</a:t>
            </a:r>
          </a:p>
        </p:txBody>
      </p:sp>
      <p:sp>
        <p:nvSpPr>
          <p:cNvPr id="6" name="Rounded Rectangle 5"/>
          <p:cNvSpPr/>
          <p:nvPr/>
        </p:nvSpPr>
        <p:spPr>
          <a:xfrm>
            <a:off x="731520" y="1737360"/>
            <a:ext cx="5120640" cy="452628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28800"/>
            <a:ext cx="4846320" cy="365760"/>
          </a:xfrm>
          <a:prstGeom prst="rect">
            <a:avLst/>
          </a:prstGeom>
          <a:noFill/>
        </p:spPr>
        <p:txBody>
          <a:bodyPr wrap="none">
            <a:spAutoFit/>
          </a:bodyPr>
          <a:lstStyle/>
          <a:p>
            <a:pPr>
              <a:defRPr sz="1200" b="1">
                <a:solidFill>
                  <a:srgbClr val="F8FAFC"/>
                </a:solidFill>
              </a:defRPr>
            </a:pPr>
            <a:r>
              <a:t>Top E-Waste Hotspots (Cumulative 2010–2050)</a:t>
            </a:r>
          </a:p>
        </p:txBody>
      </p:sp>
      <p:graphicFrame>
        <p:nvGraphicFramePr>
          <p:cNvPr id="8" name="Table 7"/>
          <p:cNvGraphicFramePr>
            <a:graphicFrameLocks noGrp="1"/>
          </p:cNvGraphicFramePr>
          <p:nvPr/>
        </p:nvGraphicFramePr>
        <p:xfrm>
          <a:off x="868680" y="2286000"/>
          <a:ext cx="4846320" cy="2560320"/>
        </p:xfrm>
        <a:graphic>
          <a:graphicData uri="http://schemas.openxmlformats.org/drawingml/2006/table">
            <a:tbl>
              <a:tblPr firstRow="1" bandRow="1">
                <a:tableStyleId>{5C22544A-7EE6-4342-B048-85BDC9FD1C3A}</a:tableStyleId>
              </a:tblPr>
              <a:tblGrid>
                <a:gridCol w="640080"/>
                <a:gridCol w="1828800"/>
                <a:gridCol w="731520"/>
                <a:gridCol w="1645920"/>
              </a:tblGrid>
              <a:tr h="365760">
                <a:tc>
                  <a:txBody>
                    <a:bodyPr/>
                    <a:lstStyle/>
                    <a:p>
                      <a:pPr>
                        <a:defRPr sz="900" b="1">
                          <a:solidFill>
                            <a:srgbClr val="38BDF8"/>
                          </a:solidFill>
                        </a:defRPr>
                      </a:pPr>
                      <a:r>
                        <a:t>Rank</a:t>
                      </a:r>
                    </a:p>
                  </a:txBody>
                  <a:tcPr>
                    <a:solidFill>
                      <a:srgbClr val="1E293B"/>
                    </a:solidFill>
                  </a:tcPr>
                </a:tc>
                <a:tc>
                  <a:txBody>
                    <a:bodyPr/>
                    <a:lstStyle/>
                    <a:p>
                      <a:pPr>
                        <a:defRPr sz="900" b="1">
                          <a:solidFill>
                            <a:srgbClr val="38BDF8"/>
                          </a:solidFill>
                        </a:defRPr>
                      </a:pPr>
                      <a:r>
                        <a:t>Country</a:t>
                      </a:r>
                    </a:p>
                  </a:txBody>
                  <a:tcPr>
                    <a:solidFill>
                      <a:srgbClr val="1E293B"/>
                    </a:solidFill>
                  </a:tcPr>
                </a:tc>
                <a:tc>
                  <a:txBody>
                    <a:bodyPr/>
                    <a:lstStyle/>
                    <a:p>
                      <a:pPr>
                        <a:defRPr sz="900" b="1">
                          <a:solidFill>
                            <a:srgbClr val="38BDF8"/>
                          </a:solidFill>
                        </a:defRPr>
                      </a:pPr>
                      <a:r>
                        <a:t>ISO</a:t>
                      </a:r>
                    </a:p>
                  </a:txBody>
                  <a:tcPr>
                    <a:solidFill>
                      <a:srgbClr val="1E293B"/>
                    </a:solidFill>
                  </a:tcPr>
                </a:tc>
                <a:tc>
                  <a:txBody>
                    <a:bodyPr/>
                    <a:lstStyle/>
                    <a:p>
                      <a:pPr>
                        <a:defRPr sz="900" b="1">
                          <a:solidFill>
                            <a:srgbClr val="38BDF8"/>
                          </a:solidFill>
                        </a:defRPr>
                      </a:pPr>
                      <a:r>
                        <a:t>Generated (Mg)</a:t>
                      </a:r>
                    </a:p>
                  </a:txBody>
                  <a:tcPr>
                    <a:solidFill>
                      <a:srgbClr val="1E293B"/>
                    </a:solidFill>
                  </a:tcPr>
                </a:tc>
              </a:tr>
              <a:tr h="365760">
                <a:tc>
                  <a:txBody>
                    <a:bodyPr/>
                    <a:lstStyle/>
                    <a:p>
                      <a:pPr>
                        <a:defRPr sz="850">
                          <a:solidFill>
                            <a:srgbClr val="F8FAFC"/>
                          </a:solidFill>
                        </a:defRPr>
                      </a:pPr>
                      <a:r>
                        <a:t>1</a:t>
                      </a:r>
                    </a:p>
                  </a:txBody>
                  <a:tcPr/>
                </a:tc>
                <a:tc>
                  <a:txBody>
                    <a:bodyPr/>
                    <a:lstStyle/>
                    <a:p>
                      <a:pPr>
                        <a:defRPr sz="850">
                          <a:solidFill>
                            <a:srgbClr val="F8FAFC"/>
                          </a:solidFill>
                        </a:defRPr>
                      </a:pPr>
                      <a:r>
                        <a:t>United Kingdom</a:t>
                      </a:r>
                    </a:p>
                  </a:txBody>
                  <a:tcPr/>
                </a:tc>
                <a:tc>
                  <a:txBody>
                    <a:bodyPr/>
                    <a:lstStyle/>
                    <a:p>
                      <a:pPr>
                        <a:defRPr sz="850">
                          <a:solidFill>
                            <a:srgbClr val="F8FAFC"/>
                          </a:solidFill>
                        </a:defRPr>
                      </a:pPr>
                      <a:r>
                        <a:t>GBR</a:t>
                      </a:r>
                    </a:p>
                  </a:txBody>
                  <a:tcPr/>
                </a:tc>
                <a:tc>
                  <a:txBody>
                    <a:bodyPr/>
                    <a:lstStyle/>
                    <a:p>
                      <a:pPr>
                        <a:defRPr sz="850">
                          <a:solidFill>
                            <a:srgbClr val="F8FAFC"/>
                          </a:solidFill>
                        </a:defRPr>
                      </a:pPr>
                      <a:r>
                        <a:t>302,467,302.27</a:t>
                      </a:r>
                    </a:p>
                  </a:txBody>
                  <a:tcPr/>
                </a:tc>
              </a:tr>
              <a:tr h="365760">
                <a:tc>
                  <a:txBody>
                    <a:bodyPr/>
                    <a:lstStyle/>
                    <a:p>
                      <a:pPr>
                        <a:defRPr sz="850">
                          <a:solidFill>
                            <a:srgbClr val="F8FAFC"/>
                          </a:solidFill>
                        </a:defRPr>
                      </a:pPr>
                      <a:r>
                        <a:t>2</a:t>
                      </a:r>
                    </a:p>
                  </a:txBody>
                  <a:tcPr/>
                </a:tc>
                <a:tc>
                  <a:txBody>
                    <a:bodyPr/>
                    <a:lstStyle/>
                    <a:p>
                      <a:pPr>
                        <a:defRPr sz="850">
                          <a:solidFill>
                            <a:srgbClr val="F8FAFC"/>
                          </a:solidFill>
                        </a:defRPr>
                      </a:pPr>
                      <a:r>
                        <a:t>Germany</a:t>
                      </a:r>
                    </a:p>
                  </a:txBody>
                  <a:tcPr/>
                </a:tc>
                <a:tc>
                  <a:txBody>
                    <a:bodyPr/>
                    <a:lstStyle/>
                    <a:p>
                      <a:pPr>
                        <a:defRPr sz="850">
                          <a:solidFill>
                            <a:srgbClr val="F8FAFC"/>
                          </a:solidFill>
                        </a:defRPr>
                      </a:pPr>
                      <a:r>
                        <a:t>DEU</a:t>
                      </a:r>
                    </a:p>
                  </a:txBody>
                  <a:tcPr/>
                </a:tc>
                <a:tc>
                  <a:txBody>
                    <a:bodyPr/>
                    <a:lstStyle/>
                    <a:p>
                      <a:pPr>
                        <a:defRPr sz="850">
                          <a:solidFill>
                            <a:srgbClr val="F8FAFC"/>
                          </a:solidFill>
                        </a:defRPr>
                      </a:pPr>
                      <a:r>
                        <a:t>299,730,670.33</a:t>
                      </a:r>
                    </a:p>
                  </a:txBody>
                  <a:tcPr/>
                </a:tc>
              </a:tr>
              <a:tr h="365760">
                <a:tc>
                  <a:txBody>
                    <a:bodyPr/>
                    <a:lstStyle/>
                    <a:p>
                      <a:pPr>
                        <a:defRPr sz="850">
                          <a:solidFill>
                            <a:srgbClr val="F8FAFC"/>
                          </a:solidFill>
                        </a:defRPr>
                      </a:pPr>
                      <a:r>
                        <a:t>3</a:t>
                      </a:r>
                    </a:p>
                  </a:txBody>
                  <a:tcPr/>
                </a:tc>
                <a:tc>
                  <a:txBody>
                    <a:bodyPr/>
                    <a:lstStyle/>
                    <a:p>
                      <a:pPr>
                        <a:defRPr sz="850">
                          <a:solidFill>
                            <a:srgbClr val="F8FAFC"/>
                          </a:solidFill>
                        </a:defRPr>
                      </a:pPr>
                      <a:r>
                        <a:t>France</a:t>
                      </a:r>
                    </a:p>
                  </a:txBody>
                  <a:tcPr/>
                </a:tc>
                <a:tc>
                  <a:txBody>
                    <a:bodyPr/>
                    <a:lstStyle/>
                    <a:p>
                      <a:pPr>
                        <a:defRPr sz="850">
                          <a:solidFill>
                            <a:srgbClr val="F8FAFC"/>
                          </a:solidFill>
                        </a:defRPr>
                      </a:pPr>
                      <a:r>
                        <a:t>FRA</a:t>
                      </a:r>
                    </a:p>
                  </a:txBody>
                  <a:tcPr/>
                </a:tc>
                <a:tc>
                  <a:txBody>
                    <a:bodyPr/>
                    <a:lstStyle/>
                    <a:p>
                      <a:pPr>
                        <a:defRPr sz="850">
                          <a:solidFill>
                            <a:srgbClr val="F8FAFC"/>
                          </a:solidFill>
                        </a:defRPr>
                      </a:pPr>
                      <a:r>
                        <a:t>233,664,421.23</a:t>
                      </a:r>
                    </a:p>
                  </a:txBody>
                  <a:tcPr/>
                </a:tc>
              </a:tr>
              <a:tr h="365760">
                <a:tc>
                  <a:txBody>
                    <a:bodyPr/>
                    <a:lstStyle/>
                    <a:p>
                      <a:pPr>
                        <a:defRPr sz="850">
                          <a:solidFill>
                            <a:srgbClr val="F8FAFC"/>
                          </a:solidFill>
                        </a:defRPr>
                      </a:pPr>
                      <a:r>
                        <a:t>4</a:t>
                      </a:r>
                    </a:p>
                  </a:txBody>
                  <a:tcPr/>
                </a:tc>
                <a:tc>
                  <a:txBody>
                    <a:bodyPr/>
                    <a:lstStyle/>
                    <a:p>
                      <a:pPr>
                        <a:defRPr sz="850">
                          <a:solidFill>
                            <a:srgbClr val="F8FAFC"/>
                          </a:solidFill>
                        </a:defRPr>
                      </a:pPr>
                      <a:r>
                        <a:t>Italy</a:t>
                      </a:r>
                    </a:p>
                  </a:txBody>
                  <a:tcPr/>
                </a:tc>
                <a:tc>
                  <a:txBody>
                    <a:bodyPr/>
                    <a:lstStyle/>
                    <a:p>
                      <a:pPr>
                        <a:defRPr sz="850">
                          <a:solidFill>
                            <a:srgbClr val="F8FAFC"/>
                          </a:solidFill>
                        </a:defRPr>
                      </a:pPr>
                      <a:r>
                        <a:t>ITA</a:t>
                      </a:r>
                    </a:p>
                  </a:txBody>
                  <a:tcPr/>
                </a:tc>
                <a:tc>
                  <a:txBody>
                    <a:bodyPr/>
                    <a:lstStyle/>
                    <a:p>
                      <a:pPr>
                        <a:defRPr sz="850">
                          <a:solidFill>
                            <a:srgbClr val="F8FAFC"/>
                          </a:solidFill>
                        </a:defRPr>
                      </a:pPr>
                      <a:r>
                        <a:t>191,617,288.72</a:t>
                      </a:r>
                    </a:p>
                  </a:txBody>
                  <a:tcPr/>
                </a:tc>
              </a:tr>
              <a:tr h="365760">
                <a:tc>
                  <a:txBody>
                    <a:bodyPr/>
                    <a:lstStyle/>
                    <a:p>
                      <a:pPr>
                        <a:defRPr sz="850">
                          <a:solidFill>
                            <a:srgbClr val="F8FAFC"/>
                          </a:solidFill>
                        </a:defRPr>
                      </a:pPr>
                      <a:r>
                        <a:t>5</a:t>
                      </a:r>
                    </a:p>
                  </a:txBody>
                  <a:tcPr/>
                </a:tc>
                <a:tc>
                  <a:txBody>
                    <a:bodyPr/>
                    <a:lstStyle/>
                    <a:p>
                      <a:pPr>
                        <a:defRPr sz="850">
                          <a:solidFill>
                            <a:srgbClr val="F8FAFC"/>
                          </a:solidFill>
                        </a:defRPr>
                      </a:pPr>
                      <a:r>
                        <a:t>Spain</a:t>
                      </a:r>
                    </a:p>
                  </a:txBody>
                  <a:tcPr/>
                </a:tc>
                <a:tc>
                  <a:txBody>
                    <a:bodyPr/>
                    <a:lstStyle/>
                    <a:p>
                      <a:pPr>
                        <a:defRPr sz="850">
                          <a:solidFill>
                            <a:srgbClr val="F8FAFC"/>
                          </a:solidFill>
                        </a:defRPr>
                      </a:pPr>
                      <a:r>
                        <a:t>ESP</a:t>
                      </a:r>
                    </a:p>
                  </a:txBody>
                  <a:tcPr/>
                </a:tc>
                <a:tc>
                  <a:txBody>
                    <a:bodyPr/>
                    <a:lstStyle/>
                    <a:p>
                      <a:pPr>
                        <a:defRPr sz="850">
                          <a:solidFill>
                            <a:srgbClr val="F8FAFC"/>
                          </a:solidFill>
                        </a:defRPr>
                      </a:pPr>
                      <a:r>
                        <a:t>158,197,115.71</a:t>
                      </a:r>
                    </a:p>
                  </a:txBody>
                  <a:tcPr/>
                </a:tc>
              </a:tr>
              <a:tr h="365760">
                <a:tc>
                  <a:txBody>
                    <a:bodyPr/>
                    <a:lstStyle/>
                    <a:p>
                      <a:pPr>
                        <a:defRPr sz="850">
                          <a:solidFill>
                            <a:srgbClr val="F8FAFC"/>
                          </a:solidFill>
                        </a:defRPr>
                      </a:pPr>
                      <a:r>
                        <a:t>6</a:t>
                      </a:r>
                    </a:p>
                  </a:txBody>
                  <a:tcPr/>
                </a:tc>
                <a:tc>
                  <a:txBody>
                    <a:bodyPr/>
                    <a:lstStyle/>
                    <a:p>
                      <a:pPr>
                        <a:defRPr sz="850">
                          <a:solidFill>
                            <a:srgbClr val="F8FAFC"/>
                          </a:solidFill>
                        </a:defRPr>
                      </a:pPr>
                      <a:r>
                        <a:t>Poland</a:t>
                      </a:r>
                    </a:p>
                  </a:txBody>
                  <a:tcPr/>
                </a:tc>
                <a:tc>
                  <a:txBody>
                    <a:bodyPr/>
                    <a:lstStyle/>
                    <a:p>
                      <a:pPr>
                        <a:defRPr sz="850">
                          <a:solidFill>
                            <a:srgbClr val="F8FAFC"/>
                          </a:solidFill>
                        </a:defRPr>
                      </a:pPr>
                      <a:r>
                        <a:t>POL</a:t>
                      </a:r>
                    </a:p>
                  </a:txBody>
                  <a:tcPr/>
                </a:tc>
                <a:tc>
                  <a:txBody>
                    <a:bodyPr/>
                    <a:lstStyle/>
                    <a:p>
                      <a:pPr>
                        <a:defRPr sz="850">
                          <a:solidFill>
                            <a:srgbClr val="F8FAFC"/>
                          </a:solidFill>
                        </a:defRPr>
                      </a:pPr>
                      <a:r>
                        <a:t>81,572,628.70</a:t>
                      </a:r>
                    </a:p>
                  </a:txBody>
                  <a:tcPr/>
                </a:tc>
              </a:tr>
            </a:tbl>
          </a:graphicData>
        </a:graphic>
      </p:graphicFrame>
      <p:sp>
        <p:nvSpPr>
          <p:cNvPr id="9" name="TextBox 8"/>
          <p:cNvSpPr txBox="1"/>
          <p:nvPr/>
        </p:nvSpPr>
        <p:spPr>
          <a:xfrm>
            <a:off x="868680" y="5029200"/>
            <a:ext cx="4846320" cy="1097280"/>
          </a:xfrm>
          <a:prstGeom prst="rect">
            <a:avLst/>
          </a:prstGeom>
          <a:noFill/>
        </p:spPr>
        <p:txBody>
          <a:bodyPr wrap="square">
            <a:spAutoFit/>
          </a:bodyPr>
          <a:lstStyle/>
          <a:p>
            <a:pPr>
              <a:defRPr sz="950">
                <a:solidFill>
                  <a:srgbClr val="94A3B8"/>
                </a:solidFill>
              </a:defRPr>
            </a:pPr>
            <a:r>
              <a:t>Historical Growth (Query A):</a:t>
            </a:r>
            <a:br/>
            <a:r>
              <a:t>Annual e-waste grew from 12.8M Mg in 2010 to 15.7M Mg in 2022 (+22.6%), projected to reach 16.8M Mg in 2025.</a:t>
            </a:r>
          </a:p>
        </p:txBody>
      </p:sp>
      <p:sp>
        <p:nvSpPr>
          <p:cNvPr id="10" name="Rounded Rectangle 9"/>
          <p:cNvSpPr/>
          <p:nvPr/>
        </p:nvSpPr>
        <p:spPr>
          <a:xfrm>
            <a:off x="6035040" y="1737360"/>
            <a:ext cx="5394960" cy="452628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828800"/>
            <a:ext cx="5029200" cy="4297680"/>
          </a:xfrm>
          <a:prstGeom prst="rect">
            <a:avLst/>
          </a:prstGeom>
          <a:noFill/>
        </p:spPr>
        <p:txBody>
          <a:bodyPr wrap="square">
            <a:spAutoFit/>
          </a:bodyPr>
          <a:lstStyle/>
          <a:p>
            <a:pPr>
              <a:defRPr sz="1300" b="1">
                <a:solidFill>
                  <a:srgbClr val="F8FAFC"/>
                </a:solidFill>
              </a:defRPr>
            </a:pPr>
            <a:r>
              <a:t>EU Product Category Breakdown (Query C)</a:t>
            </a:r>
          </a:p>
          <a:p>
            <a:pPr>
              <a:defRPr sz="950">
                <a:solidFill>
                  <a:srgbClr val="94A3B8"/>
                </a:solidFill>
              </a:defRPr>
            </a:pPr>
            <a:r>
              <a:t>• Large Household Appliances (Cat4a): 38.53% (686.2M Mg) — Washing machines, dishwashers, ovens.</a:t>
            </a:r>
          </a:p>
          <a:p>
            <a:pPr>
              <a:defRPr sz="950">
                <a:solidFill>
                  <a:srgbClr val="94A3B8"/>
                </a:solidFill>
              </a:defRPr>
            </a:pPr>
            <a:r>
              <a:t>• Small Equipment (Cat5): 27.58% (491.1M Mg) — Microwaves, vacuum cleaners, power tools.</a:t>
            </a:r>
          </a:p>
          <a:p>
            <a:pPr>
              <a:defRPr sz="950">
                <a:solidFill>
                  <a:srgbClr val="94A3B8"/>
                </a:solidFill>
              </a:defRPr>
            </a:pPr>
            <a:r>
              <a:t>• Temperature Exchange (Cat1): 16.04% (285.6M Mg) — Refrigerators, AC units, heat pumps.</a:t>
            </a:r>
          </a:p>
          <a:p>
            <a:pPr>
              <a:defRPr sz="950">
                <a:solidFill>
                  <a:srgbClr val="94A3B8"/>
                </a:solidFill>
              </a:defRPr>
            </a:pPr>
            <a:r>
              <a:t>• Small IT &amp; Telecoms (Cat6): 6.51% (115.9M Mg) — Laptops, smartphones, routers.</a:t>
            </a:r>
          </a:p>
          <a:p>
            <a:pPr>
              <a:defRPr sz="950">
                <a:solidFill>
                  <a:srgbClr val="94A3B8"/>
                </a:solidFill>
              </a:defRPr>
            </a:pPr>
            <a:r>
              <a:t>• Photovoltaic Panels (Cat4b): 5.48% (97.7M Mg) — Fastest expanding future waste stream.</a:t>
            </a:r>
          </a:p>
          <a:p>
            <a:pPr>
              <a:defRPr sz="950">
                <a:solidFill>
                  <a:srgbClr val="94A3B8"/>
                </a:solidFill>
              </a:defRPr>
            </a:pPr>
            <a:r>
              <a:t>• Screens &amp; Monitors (Cat2): 5.07% (90.3M Mg) — Televisions, LCD screens.</a:t>
            </a:r>
          </a:p>
          <a:p>
            <a:pPr>
              <a:defRPr sz="950">
                <a:solidFill>
                  <a:srgbClr val="94A3B8"/>
                </a:solidFill>
              </a:defRPr>
            </a:pPr>
            <a:r>
              <a:t>• Lamps &amp; Lighting (Cat3): 0.80% (14.2M Mg) — Fluorescent tubes, LEDs.</a:t>
            </a:r>
          </a:p>
          <a:p>
            <a:br/>
            <a:pPr>
              <a:defRPr sz="950">
                <a:solidFill>
                  <a:srgbClr val="38BDF8"/>
                </a:solidFill>
              </a:defRPr>
            </a:pPr>
            <a:r>
              <a:t>Mass Balance Dynamics (Query E):</a:t>
            </a:r>
            <a:br/>
            <a:r>
              <a:t>Active in-use appliance stock = 23.37 Billion Mg | New sales = 2.00 Billion Mg | Formally collected = 935.32 Million Mg.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1E"/>
        </a:solidFill>
        <a:effectLst/>
      </p:bgPr>
    </p:bg>
    <p:spTree>
      <p:nvGrpSpPr>
        <p:cNvPr id="1" name=""/>
        <p:cNvGrpSpPr/>
        <p:nvPr/>
      </p:nvGrpSpPr>
      <p:grpSpPr/>
      <p:sp>
        <p:nvSpPr>
          <p:cNvPr id="2" name="TextBox 1"/>
          <p:cNvSpPr txBox="1"/>
          <p:nvPr/>
        </p:nvSpPr>
        <p:spPr>
          <a:xfrm>
            <a:off x="731520" y="411480"/>
            <a:ext cx="7315200" cy="320040"/>
          </a:xfrm>
          <a:prstGeom prst="rect">
            <a:avLst/>
          </a:prstGeom>
          <a:noFill/>
        </p:spPr>
        <p:txBody>
          <a:bodyPr wrap="square">
            <a:spAutoFit/>
          </a:bodyPr>
          <a:lstStyle/>
          <a:p>
            <a:pPr>
              <a:defRPr sz="1000" b="1">
                <a:solidFill>
                  <a:srgbClr val="38BDF8"/>
                </a:solidFill>
                <a:latin typeface="Arial"/>
              </a:defRPr>
            </a:pPr>
            <a:r>
              <a:t>06. MACHINE LEARNING &amp; POLICY SIMULATION</a:t>
            </a:r>
          </a:p>
        </p:txBody>
      </p:sp>
      <p:sp>
        <p:nvSpPr>
          <p:cNvPr id="3" name="TextBox 2"/>
          <p:cNvSpPr txBox="1"/>
          <p:nvPr/>
        </p:nvSpPr>
        <p:spPr>
          <a:xfrm>
            <a:off x="731520" y="731520"/>
            <a:ext cx="9601200" cy="548640"/>
          </a:xfrm>
          <a:prstGeom prst="rect">
            <a:avLst/>
          </a:prstGeom>
          <a:noFill/>
        </p:spPr>
        <p:txBody>
          <a:bodyPr wrap="square">
            <a:spAutoFit/>
          </a:bodyPr>
          <a:lstStyle/>
          <a:p>
            <a:pPr>
              <a:defRPr sz="2200" b="1">
                <a:solidFill>
                  <a:srgbClr val="F8FAFC"/>
                </a:solidFill>
                <a:latin typeface="Arial"/>
              </a:defRPr>
            </a:pPr>
            <a:r>
              <a:t>Circular Economy Simulation &amp; MLlib Forecasting</a:t>
            </a:r>
          </a:p>
        </p:txBody>
      </p:sp>
      <p:sp>
        <p:nvSpPr>
          <p:cNvPr id="4" name="TextBox 3"/>
          <p:cNvSpPr txBox="1"/>
          <p:nvPr/>
        </p:nvSpPr>
        <p:spPr>
          <a:xfrm>
            <a:off x="731520" y="1280160"/>
            <a:ext cx="9601200" cy="320040"/>
          </a:xfrm>
          <a:prstGeom prst="rect">
            <a:avLst/>
          </a:prstGeom>
          <a:noFill/>
        </p:spPr>
        <p:txBody>
          <a:bodyPr wrap="square">
            <a:spAutoFit/>
          </a:bodyPr>
          <a:lstStyle/>
          <a:p>
            <a:pPr>
              <a:defRPr sz="1100">
                <a:solidFill>
                  <a:srgbClr val="94A3B8"/>
                </a:solidFill>
                <a:latin typeface="Arial"/>
              </a:defRPr>
            </a:pPr>
            <a:r>
              <a:t>Simulating BAU vs REC vs CIR scenarios and distributed Ordinary Least Squares regression</a:t>
            </a:r>
          </a:p>
        </p:txBody>
      </p:sp>
      <p:sp>
        <p:nvSpPr>
          <p:cNvPr id="5" name="TextBox 4"/>
          <p:cNvSpPr txBox="1"/>
          <p:nvPr/>
        </p:nvSpPr>
        <p:spPr>
          <a:xfrm>
            <a:off x="10515600" y="502920"/>
            <a:ext cx="1005840" cy="365760"/>
          </a:xfrm>
          <a:prstGeom prst="rect">
            <a:avLst/>
          </a:prstGeom>
          <a:noFill/>
        </p:spPr>
        <p:txBody>
          <a:bodyPr wrap="none">
            <a:spAutoFit/>
          </a:bodyPr>
          <a:lstStyle/>
          <a:p>
            <a:pPr algn="r">
              <a:defRPr sz="1200" b="1">
                <a:solidFill>
                  <a:srgbClr val="38BDF8"/>
                </a:solidFill>
                <a:latin typeface="Arial"/>
              </a:defRPr>
            </a:pPr>
            <a:r>
              <a:t>07 / 10</a:t>
            </a:r>
          </a:p>
        </p:txBody>
      </p:sp>
      <p:sp>
        <p:nvSpPr>
          <p:cNvPr id="6" name="Rounded Rectangle 5"/>
          <p:cNvSpPr/>
          <p:nvPr/>
        </p:nvSpPr>
        <p:spPr>
          <a:xfrm>
            <a:off x="731520" y="1737360"/>
            <a:ext cx="5120640" cy="219456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28800"/>
            <a:ext cx="4846320" cy="2011680"/>
          </a:xfrm>
          <a:prstGeom prst="rect">
            <a:avLst/>
          </a:prstGeom>
          <a:noFill/>
        </p:spPr>
        <p:txBody>
          <a:bodyPr wrap="square">
            <a:spAutoFit/>
          </a:bodyPr>
          <a:lstStyle/>
          <a:p>
            <a:pPr>
              <a:defRPr sz="1300" b="1">
                <a:solidFill>
                  <a:srgbClr val="F8FAFC"/>
                </a:solidFill>
              </a:defRPr>
            </a:pPr>
            <a:r>
              <a:t>Policy Scenario Comparison (2023–2050)</a:t>
            </a:r>
          </a:p>
          <a:p>
            <a:pPr>
              <a:defRPr sz="950">
                <a:solidFill>
                  <a:srgbClr val="94A3B8"/>
                </a:solidFill>
              </a:defRPr>
            </a:pPr>
            <a:r>
              <a:t>• Business-As-Usual (BAU): 616.99 Million Mg</a:t>
            </a:r>
            <a:br/>
            <a:r>
              <a:t>• Recycling Targets (REC): 518.64 Million Mg (Saves 98.35M Mg)</a:t>
            </a:r>
            <a:br/>
            <a:r>
              <a:t>• Circular Economy (CIR): 455.52 Million Mg (Saves 161.46M Mg!)</a:t>
            </a:r>
            <a:br/>
            <a:br/>
            <a:r>
              <a:t>Circular Economy Dividend: Product life extension, modular repair, and reuse eliminate 161.46 Million Metric Tons of waste.</a:t>
            </a:r>
          </a:p>
        </p:txBody>
      </p:sp>
      <p:sp>
        <p:nvSpPr>
          <p:cNvPr id="8" name="Rounded Rectangle 7"/>
          <p:cNvSpPr/>
          <p:nvPr/>
        </p:nvSpPr>
        <p:spPr>
          <a:xfrm>
            <a:off x="731520" y="4069080"/>
            <a:ext cx="5120640" cy="219456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160520"/>
            <a:ext cx="4846320" cy="2011680"/>
          </a:xfrm>
          <a:prstGeom prst="rect">
            <a:avLst/>
          </a:prstGeom>
          <a:noFill/>
        </p:spPr>
        <p:txBody>
          <a:bodyPr wrap="square">
            <a:spAutoFit/>
          </a:bodyPr>
          <a:lstStyle/>
          <a:p>
            <a:pPr>
              <a:defRPr sz="1300" b="1">
                <a:solidFill>
                  <a:srgbClr val="F8FAFC"/>
                </a:solidFill>
              </a:defRPr>
            </a:pPr>
            <a:r>
              <a:t>Enhanced Multi-Model AI Predictive Engine</a:t>
            </a:r>
          </a:p>
          <a:p>
            <a:pPr>
              <a:defRPr sz="919">
                <a:solidFill>
                  <a:srgbClr val="38BDF8"/>
                </a:solidFill>
              </a:defRPr>
            </a:pPr>
            <a:r>
              <a:t>Benchmarked across 4 Spark MLlib models on OBS actuals:</a:t>
            </a:r>
            <a:br/>
            <a:r>
              <a:t>• Champion Model: Polynomial Feature Expansion (R² = 0.9009, RMSE = 247,626 Mg)</a:t>
            </a:r>
            <a:br/>
            <a:r>
              <a:t>• Ensemble Learning: Random Forest Regressor (R² = 0.9467 in-sample)</a:t>
            </a:r>
            <a:br/>
            <a:r>
              <a:t>• Linear Baseline: OLS Linear Regression (R² = 0.8410, RMSE = 313,674 Mg)</a:t>
            </a:r>
            <a:br/>
            <a:r>
              <a:t>• Regularized L2: Spark MLlib Ridge Regression (R² = 0.8410)</a:t>
            </a:r>
            <a:br/>
            <a:r>
              <a:t>Error Reduction: Champion AI model reduced RMSE by 21% (MAPE = 1.54%).</a:t>
            </a:r>
          </a:p>
        </p:txBody>
      </p:sp>
      <p:pic>
        <p:nvPicPr>
          <p:cNvPr id="10" name="Picture 9" descr="circular.jpg"/>
          <p:cNvPicPr>
            <a:picLocks noChangeAspect="1"/>
          </p:cNvPicPr>
          <p:nvPr/>
        </p:nvPicPr>
        <p:blipFill>
          <a:blip r:embed="rId2"/>
          <a:stretch>
            <a:fillRect/>
          </a:stretch>
        </p:blipFill>
        <p:spPr>
          <a:xfrm>
            <a:off x="6035040" y="1737360"/>
            <a:ext cx="5394960" cy="45262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1E"/>
        </a:solidFill>
        <a:effectLst/>
      </p:bgPr>
    </p:bg>
    <p:spTree>
      <p:nvGrpSpPr>
        <p:cNvPr id="1" name=""/>
        <p:cNvGrpSpPr/>
        <p:nvPr/>
      </p:nvGrpSpPr>
      <p:grpSpPr/>
      <p:sp>
        <p:nvSpPr>
          <p:cNvPr id="2" name="TextBox 1"/>
          <p:cNvSpPr txBox="1"/>
          <p:nvPr/>
        </p:nvSpPr>
        <p:spPr>
          <a:xfrm>
            <a:off x="731520" y="411480"/>
            <a:ext cx="7315200" cy="320040"/>
          </a:xfrm>
          <a:prstGeom prst="rect">
            <a:avLst/>
          </a:prstGeom>
          <a:noFill/>
        </p:spPr>
        <p:txBody>
          <a:bodyPr wrap="square">
            <a:spAutoFit/>
          </a:bodyPr>
          <a:lstStyle/>
          <a:p>
            <a:pPr>
              <a:defRPr sz="1000" b="1">
                <a:solidFill>
                  <a:srgbClr val="38BDF8"/>
                </a:solidFill>
                <a:latin typeface="Arial"/>
              </a:defRPr>
            </a:pPr>
            <a:r>
              <a:t>07. NOSQL GEOSPATIAL DATA LAYER</a:t>
            </a:r>
          </a:p>
        </p:txBody>
      </p:sp>
      <p:sp>
        <p:nvSpPr>
          <p:cNvPr id="3" name="TextBox 2"/>
          <p:cNvSpPr txBox="1"/>
          <p:nvPr/>
        </p:nvSpPr>
        <p:spPr>
          <a:xfrm>
            <a:off x="731520" y="731520"/>
            <a:ext cx="9601200" cy="548640"/>
          </a:xfrm>
          <a:prstGeom prst="rect">
            <a:avLst/>
          </a:prstGeom>
          <a:noFill/>
        </p:spPr>
        <p:txBody>
          <a:bodyPr wrap="square">
            <a:spAutoFit/>
          </a:bodyPr>
          <a:lstStyle/>
          <a:p>
            <a:pPr>
              <a:defRPr sz="2200" b="1">
                <a:solidFill>
                  <a:srgbClr val="F8FAFC"/>
                </a:solidFill>
                <a:latin typeface="Arial"/>
              </a:defRPr>
            </a:pPr>
            <a:r>
              <a:t>MongoDB Infrastructure Modeling</a:t>
            </a:r>
          </a:p>
        </p:txBody>
      </p:sp>
      <p:sp>
        <p:nvSpPr>
          <p:cNvPr id="4" name="TextBox 3"/>
          <p:cNvSpPr txBox="1"/>
          <p:nvPr/>
        </p:nvSpPr>
        <p:spPr>
          <a:xfrm>
            <a:off x="731520" y="1280160"/>
            <a:ext cx="9601200" cy="320040"/>
          </a:xfrm>
          <a:prstGeom prst="rect">
            <a:avLst/>
          </a:prstGeom>
          <a:noFill/>
        </p:spPr>
        <p:txBody>
          <a:bodyPr wrap="square">
            <a:spAutoFit/>
          </a:bodyPr>
          <a:lstStyle/>
          <a:p>
            <a:pPr>
              <a:defRPr sz="1100">
                <a:solidFill>
                  <a:srgbClr val="94A3B8"/>
                </a:solidFill>
                <a:latin typeface="Arial"/>
              </a:defRPr>
            </a:pPr>
            <a:r>
              <a:t>Semi-structured schema validation &amp; 2dsphere indexing across European recycling plants</a:t>
            </a:r>
          </a:p>
        </p:txBody>
      </p:sp>
      <p:sp>
        <p:nvSpPr>
          <p:cNvPr id="5" name="TextBox 4"/>
          <p:cNvSpPr txBox="1"/>
          <p:nvPr/>
        </p:nvSpPr>
        <p:spPr>
          <a:xfrm>
            <a:off x="10515600" y="502920"/>
            <a:ext cx="1005840" cy="365760"/>
          </a:xfrm>
          <a:prstGeom prst="rect">
            <a:avLst/>
          </a:prstGeom>
          <a:noFill/>
        </p:spPr>
        <p:txBody>
          <a:bodyPr wrap="none">
            <a:spAutoFit/>
          </a:bodyPr>
          <a:lstStyle/>
          <a:p>
            <a:pPr algn="r">
              <a:defRPr sz="1200" b="1">
                <a:solidFill>
                  <a:srgbClr val="38BDF8"/>
                </a:solidFill>
                <a:latin typeface="Arial"/>
              </a:defRPr>
            </a:pPr>
            <a:r>
              <a:t>08 / 10</a:t>
            </a:r>
          </a:p>
        </p:txBody>
      </p:sp>
      <p:sp>
        <p:nvSpPr>
          <p:cNvPr id="6" name="Rounded Rectangle 5"/>
          <p:cNvSpPr/>
          <p:nvPr/>
        </p:nvSpPr>
        <p:spPr>
          <a:xfrm>
            <a:off x="731520" y="1737360"/>
            <a:ext cx="5120640" cy="452628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28800"/>
            <a:ext cx="4846320" cy="4297680"/>
          </a:xfrm>
          <a:prstGeom prst="rect">
            <a:avLst/>
          </a:prstGeom>
          <a:noFill/>
        </p:spPr>
        <p:txBody>
          <a:bodyPr wrap="square">
            <a:spAutoFit/>
          </a:bodyPr>
          <a:lstStyle/>
          <a:p>
            <a:pPr>
              <a:defRPr sz="1300" b="1">
                <a:solidFill>
                  <a:srgbClr val="F8FAFC"/>
                </a:solidFill>
              </a:defRPr>
            </a:pPr>
            <a:r>
              <a:t>Why NoSQL for E-Waste Infrastructure?</a:t>
            </a:r>
          </a:p>
          <a:p>
            <a:pPr>
              <a:defRPr sz="1000">
                <a:solidFill>
                  <a:srgbClr val="94A3B8"/>
                </a:solidFill>
              </a:defRPr>
            </a:pPr>
            <a:r>
              <a:t>• Heterogeneous Metallurgy: Smelters, mechanical shredders, depollution stations, and hydrometallurgical refining plants have non-uniform schema requirements.</a:t>
            </a:r>
          </a:p>
          <a:p>
            <a:pPr>
              <a:defRPr sz="1000">
                <a:solidFill>
                  <a:srgbClr val="94A3B8"/>
                </a:solidFill>
              </a:defRPr>
            </a:pPr>
            <a:r>
              <a:t>• Dynamic Category Arrays: Nested lists of accepted categories (e.g. ['WEEE_Cat1', 'WEEE_Cat4a', 'WEEE_Cat5']).</a:t>
            </a:r>
          </a:p>
          <a:p>
            <a:pPr>
              <a:defRPr sz="1000">
                <a:solidFill>
                  <a:srgbClr val="94A3B8"/>
                </a:solidFill>
              </a:defRPr>
            </a:pPr>
            <a:r>
              <a:t>• Geospatial Indexing: Compound (latitude, longitude) index with 2dsphere spatial geometry.</a:t>
            </a:r>
          </a:p>
          <a:p>
            <a:pPr>
              <a:defRPr sz="1000">
                <a:solidFill>
                  <a:srgbClr val="94A3B8"/>
                </a:solidFill>
              </a:defRPr>
            </a:pPr>
            <a:r>
              <a:t>• Total Permitted Capacity: 1,605,000 Metric Tons/year across 18 major European facilities in 11 nations.</a:t>
            </a:r>
          </a:p>
          <a:p>
            <a:pPr>
              <a:defRPr sz="1000">
                <a:solidFill>
                  <a:srgbClr val="94A3B8"/>
                </a:solidFill>
              </a:defRPr>
            </a:pPr>
            <a:r>
              <a:t>• Proximity Queries: Calculates distance between generation hotspots and closest authorized smelters.</a:t>
            </a:r>
          </a:p>
        </p:txBody>
      </p:sp>
      <p:sp>
        <p:nvSpPr>
          <p:cNvPr id="8" name="Rounded Rectangle 7"/>
          <p:cNvSpPr/>
          <p:nvPr/>
        </p:nvSpPr>
        <p:spPr>
          <a:xfrm>
            <a:off x="6035040" y="1737360"/>
            <a:ext cx="5394960" cy="452628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828800"/>
            <a:ext cx="5029200" cy="365760"/>
          </a:xfrm>
          <a:prstGeom prst="rect">
            <a:avLst/>
          </a:prstGeom>
          <a:noFill/>
        </p:spPr>
        <p:txBody>
          <a:bodyPr wrap="none">
            <a:spAutoFit/>
          </a:bodyPr>
          <a:lstStyle/>
          <a:p>
            <a:pPr>
              <a:defRPr sz="1200" b="1">
                <a:solidFill>
                  <a:srgbClr val="F8FAFC"/>
                </a:solidFill>
              </a:defRPr>
            </a:pPr>
            <a:r>
              <a:t>Representative Modeled European Facilities</a:t>
            </a:r>
          </a:p>
        </p:txBody>
      </p:sp>
      <p:graphicFrame>
        <p:nvGraphicFramePr>
          <p:cNvPr id="10" name="Table 9"/>
          <p:cNvGraphicFramePr>
            <a:graphicFrameLocks noGrp="1"/>
          </p:cNvGraphicFramePr>
          <p:nvPr/>
        </p:nvGraphicFramePr>
        <p:xfrm>
          <a:off x="6217920" y="2286000"/>
          <a:ext cx="5029200" cy="2560320"/>
        </p:xfrm>
        <a:graphic>
          <a:graphicData uri="http://schemas.openxmlformats.org/drawingml/2006/table">
            <a:tbl>
              <a:tblPr firstRow="1" bandRow="1">
                <a:tableStyleId>{5C22544A-7EE6-4342-B048-85BDC9FD1C3A}</a:tableStyleId>
              </a:tblPr>
              <a:tblGrid>
                <a:gridCol w="1645920"/>
                <a:gridCol w="1188720"/>
                <a:gridCol w="1188720"/>
                <a:gridCol w="1005840"/>
              </a:tblGrid>
              <a:tr h="365760">
                <a:tc>
                  <a:txBody>
                    <a:bodyPr/>
                    <a:lstStyle/>
                    <a:p>
                      <a:pPr>
                        <a:defRPr sz="850" b="1">
                          <a:solidFill>
                            <a:srgbClr val="38BDF8"/>
                          </a:solidFill>
                        </a:defRPr>
                      </a:pPr>
                      <a:r>
                        <a:t>Facility Name</a:t>
                      </a:r>
                    </a:p>
                  </a:txBody>
                  <a:tcPr>
                    <a:solidFill>
                      <a:srgbClr val="1E293B"/>
                    </a:solidFill>
                  </a:tcPr>
                </a:tc>
                <a:tc>
                  <a:txBody>
                    <a:bodyPr/>
                    <a:lstStyle/>
                    <a:p>
                      <a:pPr>
                        <a:defRPr sz="850" b="1">
                          <a:solidFill>
                            <a:srgbClr val="38BDF8"/>
                          </a:solidFill>
                        </a:defRPr>
                      </a:pPr>
                      <a:r>
                        <a:t>Location</a:t>
                      </a:r>
                    </a:p>
                  </a:txBody>
                  <a:tcPr>
                    <a:solidFill>
                      <a:srgbClr val="1E293B"/>
                    </a:solidFill>
                  </a:tcPr>
                </a:tc>
                <a:tc>
                  <a:txBody>
                    <a:bodyPr/>
                    <a:lstStyle/>
                    <a:p>
                      <a:pPr>
                        <a:defRPr sz="850" b="1">
                          <a:solidFill>
                            <a:srgbClr val="38BDF8"/>
                          </a:solidFill>
                        </a:defRPr>
                      </a:pPr>
                      <a:r>
                        <a:t>Type</a:t>
                      </a:r>
                    </a:p>
                  </a:txBody>
                  <a:tcPr>
                    <a:solidFill>
                      <a:srgbClr val="1E293B"/>
                    </a:solidFill>
                  </a:tcPr>
                </a:tc>
                <a:tc>
                  <a:txBody>
                    <a:bodyPr/>
                    <a:lstStyle/>
                    <a:p>
                      <a:pPr>
                        <a:defRPr sz="850" b="1">
                          <a:solidFill>
                            <a:srgbClr val="38BDF8"/>
                          </a:solidFill>
                        </a:defRPr>
                      </a:pPr>
                      <a:r>
                        <a:t>Capacity</a:t>
                      </a:r>
                    </a:p>
                  </a:txBody>
                  <a:tcPr>
                    <a:solidFill>
                      <a:srgbClr val="1E293B"/>
                    </a:solidFill>
                  </a:tcPr>
                </a:tc>
              </a:tr>
              <a:tr h="365760">
                <a:tc>
                  <a:txBody>
                    <a:bodyPr/>
                    <a:lstStyle/>
                    <a:p>
                      <a:pPr>
                        <a:defRPr sz="800">
                          <a:solidFill>
                            <a:srgbClr val="F8FAFC"/>
                          </a:solidFill>
                        </a:defRPr>
                      </a:pPr>
                      <a:r>
                        <a:t>Aurubis Smelter</a:t>
                      </a:r>
                    </a:p>
                  </a:txBody>
                  <a:tcPr/>
                </a:tc>
                <a:tc>
                  <a:txBody>
                    <a:bodyPr/>
                    <a:lstStyle/>
                    <a:p>
                      <a:pPr>
                        <a:defRPr sz="800">
                          <a:solidFill>
                            <a:srgbClr val="F8FAFC"/>
                          </a:solidFill>
                        </a:defRPr>
                      </a:pPr>
                      <a:r>
                        <a:t>Hamburg, DEU</a:t>
                      </a:r>
                    </a:p>
                  </a:txBody>
                  <a:tcPr/>
                </a:tc>
                <a:tc>
                  <a:txBody>
                    <a:bodyPr/>
                    <a:lstStyle/>
                    <a:p>
                      <a:pPr>
                        <a:defRPr sz="800">
                          <a:solidFill>
                            <a:srgbClr val="F8FAFC"/>
                          </a:solidFill>
                        </a:defRPr>
                      </a:pPr>
                      <a:r>
                        <a:t>Smelter/Refining</a:t>
                      </a:r>
                    </a:p>
                  </a:txBody>
                  <a:tcPr/>
                </a:tc>
                <a:tc>
                  <a:txBody>
                    <a:bodyPr/>
                    <a:lstStyle/>
                    <a:p>
                      <a:pPr>
                        <a:defRPr sz="800">
                          <a:solidFill>
                            <a:srgbClr val="F8FAFC"/>
                          </a:solidFill>
                        </a:defRPr>
                      </a:pPr>
                      <a:r>
                        <a:t>280,000 Mg</a:t>
                      </a:r>
                    </a:p>
                  </a:txBody>
                  <a:tcPr/>
                </a:tc>
              </a:tr>
              <a:tr h="365760">
                <a:tc>
                  <a:txBody>
                    <a:bodyPr/>
                    <a:lstStyle/>
                    <a:p>
                      <a:pPr>
                        <a:defRPr sz="800">
                          <a:solidFill>
                            <a:srgbClr val="F8FAFC"/>
                          </a:solidFill>
                        </a:defRPr>
                      </a:pPr>
                      <a:r>
                        <a:t>Umicore Hoboken</a:t>
                      </a:r>
                    </a:p>
                  </a:txBody>
                  <a:tcPr/>
                </a:tc>
                <a:tc>
                  <a:txBody>
                    <a:bodyPr/>
                    <a:lstStyle/>
                    <a:p>
                      <a:pPr>
                        <a:defRPr sz="800">
                          <a:solidFill>
                            <a:srgbClr val="F8FAFC"/>
                          </a:solidFill>
                        </a:defRPr>
                      </a:pPr>
                      <a:r>
                        <a:t>Antwerp, BEL</a:t>
                      </a:r>
                    </a:p>
                  </a:txBody>
                  <a:tcPr/>
                </a:tc>
                <a:tc>
                  <a:txBody>
                    <a:bodyPr/>
                    <a:lstStyle/>
                    <a:p>
                      <a:pPr>
                        <a:defRPr sz="800">
                          <a:solidFill>
                            <a:srgbClr val="F8FAFC"/>
                          </a:solidFill>
                        </a:defRPr>
                      </a:pPr>
                      <a:r>
                        <a:t>Precious Metals</a:t>
                      </a:r>
                    </a:p>
                  </a:txBody>
                  <a:tcPr/>
                </a:tc>
                <a:tc>
                  <a:txBody>
                    <a:bodyPr/>
                    <a:lstStyle/>
                    <a:p>
                      <a:pPr>
                        <a:defRPr sz="800">
                          <a:solidFill>
                            <a:srgbClr val="F8FAFC"/>
                          </a:solidFill>
                        </a:defRPr>
                      </a:pPr>
                      <a:r>
                        <a:t>150,000 Mg</a:t>
                      </a:r>
                    </a:p>
                  </a:txBody>
                  <a:tcPr/>
                </a:tc>
              </a:tr>
              <a:tr h="365760">
                <a:tc>
                  <a:txBody>
                    <a:bodyPr/>
                    <a:lstStyle/>
                    <a:p>
                      <a:pPr>
                        <a:defRPr sz="800">
                          <a:solidFill>
                            <a:srgbClr val="F8FAFC"/>
                          </a:solidFill>
                        </a:defRPr>
                      </a:pPr>
                      <a:r>
                        <a:t>Boliden Rönnskär</a:t>
                      </a:r>
                    </a:p>
                  </a:txBody>
                  <a:tcPr/>
                </a:tc>
                <a:tc>
                  <a:txBody>
                    <a:bodyPr/>
                    <a:lstStyle/>
                    <a:p>
                      <a:pPr>
                        <a:defRPr sz="800">
                          <a:solidFill>
                            <a:srgbClr val="F8FAFC"/>
                          </a:solidFill>
                        </a:defRPr>
                      </a:pPr>
                      <a:r>
                        <a:t>Skellefteå, SWE</a:t>
                      </a:r>
                    </a:p>
                  </a:txBody>
                  <a:tcPr/>
                </a:tc>
                <a:tc>
                  <a:txBody>
                    <a:bodyPr/>
                    <a:lstStyle/>
                    <a:p>
                      <a:pPr>
                        <a:defRPr sz="800">
                          <a:solidFill>
                            <a:srgbClr val="F8FAFC"/>
                          </a:solidFill>
                        </a:defRPr>
                      </a:pPr>
                      <a:r>
                        <a:t>Secondary Smelter</a:t>
                      </a:r>
                    </a:p>
                  </a:txBody>
                  <a:tcPr/>
                </a:tc>
                <a:tc>
                  <a:txBody>
                    <a:bodyPr/>
                    <a:lstStyle/>
                    <a:p>
                      <a:pPr>
                        <a:defRPr sz="800">
                          <a:solidFill>
                            <a:srgbClr val="F8FAFC"/>
                          </a:solidFill>
                        </a:defRPr>
                      </a:pPr>
                      <a:r>
                        <a:t>120,000 Mg</a:t>
                      </a:r>
                    </a:p>
                  </a:txBody>
                  <a:tcPr/>
                </a:tc>
              </a:tr>
              <a:tr h="365760">
                <a:tc>
                  <a:txBody>
                    <a:bodyPr/>
                    <a:lstStyle/>
                    <a:p>
                      <a:pPr>
                        <a:defRPr sz="800">
                          <a:solidFill>
                            <a:srgbClr val="F8FAFC"/>
                          </a:solidFill>
                        </a:defRPr>
                      </a:pPr>
                      <a:r>
                        <a:t>Remondis Lünen</a:t>
                      </a:r>
                    </a:p>
                  </a:txBody>
                  <a:tcPr/>
                </a:tc>
                <a:tc>
                  <a:txBody>
                    <a:bodyPr/>
                    <a:lstStyle/>
                    <a:p>
                      <a:pPr>
                        <a:defRPr sz="800">
                          <a:solidFill>
                            <a:srgbClr val="F8FAFC"/>
                          </a:solidFill>
                        </a:defRPr>
                      </a:pPr>
                      <a:r>
                        <a:t>Lünen, DEU</a:t>
                      </a:r>
                    </a:p>
                  </a:txBody>
                  <a:tcPr/>
                </a:tc>
                <a:tc>
                  <a:txBody>
                    <a:bodyPr/>
                    <a:lstStyle/>
                    <a:p>
                      <a:pPr>
                        <a:defRPr sz="800">
                          <a:solidFill>
                            <a:srgbClr val="F8FAFC"/>
                          </a:solidFill>
                        </a:defRPr>
                      </a:pPr>
                      <a:r>
                        <a:t>Dismantling/Sort</a:t>
                      </a:r>
                    </a:p>
                  </a:txBody>
                  <a:tcPr/>
                </a:tc>
                <a:tc>
                  <a:txBody>
                    <a:bodyPr/>
                    <a:lstStyle/>
                    <a:p>
                      <a:pPr>
                        <a:defRPr sz="800">
                          <a:solidFill>
                            <a:srgbClr val="F8FAFC"/>
                          </a:solidFill>
                        </a:defRPr>
                      </a:pPr>
                      <a:r>
                        <a:t>95,000 Mg</a:t>
                      </a:r>
                    </a:p>
                  </a:txBody>
                  <a:tcPr/>
                </a:tc>
              </a:tr>
              <a:tr h="365760">
                <a:tc>
                  <a:txBody>
                    <a:bodyPr/>
                    <a:lstStyle/>
                    <a:p>
                      <a:pPr>
                        <a:defRPr sz="800">
                          <a:solidFill>
                            <a:srgbClr val="F8FAFC"/>
                          </a:solidFill>
                        </a:defRPr>
                      </a:pPr>
                      <a:r>
                        <a:t>Sims Lifecycle</a:t>
                      </a:r>
                    </a:p>
                  </a:txBody>
                  <a:tcPr/>
                </a:tc>
                <a:tc>
                  <a:txBody>
                    <a:bodyPr/>
                    <a:lstStyle/>
                    <a:p>
                      <a:pPr>
                        <a:defRPr sz="800">
                          <a:solidFill>
                            <a:srgbClr val="F8FAFC"/>
                          </a:solidFill>
                        </a:defRPr>
                      </a:pPr>
                      <a:r>
                        <a:t>Daventry, GBR</a:t>
                      </a:r>
                    </a:p>
                  </a:txBody>
                  <a:tcPr/>
                </a:tc>
                <a:tc>
                  <a:txBody>
                    <a:bodyPr/>
                    <a:lstStyle/>
                    <a:p>
                      <a:pPr>
                        <a:defRPr sz="800">
                          <a:solidFill>
                            <a:srgbClr val="F8FAFC"/>
                          </a:solidFill>
                        </a:defRPr>
                      </a:pPr>
                      <a:r>
                        <a:t>Auto Shredding</a:t>
                      </a:r>
                    </a:p>
                  </a:txBody>
                  <a:tcPr/>
                </a:tc>
                <a:tc>
                  <a:txBody>
                    <a:bodyPr/>
                    <a:lstStyle/>
                    <a:p>
                      <a:pPr>
                        <a:defRPr sz="800">
                          <a:solidFill>
                            <a:srgbClr val="F8FAFC"/>
                          </a:solidFill>
                        </a:defRPr>
                      </a:pPr>
                      <a:r>
                        <a:t>80,000 Mg</a:t>
                      </a:r>
                    </a:p>
                  </a:txBody>
                  <a:tcPr/>
                </a:tc>
              </a:tr>
              <a:tr h="365760">
                <a:tc>
                  <a:txBody>
                    <a:bodyPr/>
                    <a:lstStyle/>
                    <a:p>
                      <a:pPr>
                        <a:defRPr sz="800">
                          <a:solidFill>
                            <a:srgbClr val="F8FAFC"/>
                          </a:solidFill>
                        </a:defRPr>
                      </a:pPr>
                      <a:r>
                        <a:t>Montello SpA</a:t>
                      </a:r>
                    </a:p>
                  </a:txBody>
                  <a:tcPr/>
                </a:tc>
                <a:tc>
                  <a:txBody>
                    <a:bodyPr/>
                    <a:lstStyle/>
                    <a:p>
                      <a:pPr>
                        <a:defRPr sz="800">
                          <a:solidFill>
                            <a:srgbClr val="F8FAFC"/>
                          </a:solidFill>
                        </a:defRPr>
                      </a:pPr>
                      <a:r>
                        <a:t>Bergamo, ITA</a:t>
                      </a:r>
                    </a:p>
                  </a:txBody>
                  <a:tcPr/>
                </a:tc>
                <a:tc>
                  <a:txBody>
                    <a:bodyPr/>
                    <a:lstStyle/>
                    <a:p>
                      <a:pPr>
                        <a:defRPr sz="800">
                          <a:solidFill>
                            <a:srgbClr val="F8FAFC"/>
                          </a:solidFill>
                        </a:defRPr>
                      </a:pPr>
                      <a:r>
                        <a:t>WEEE Sorting</a:t>
                      </a:r>
                    </a:p>
                  </a:txBody>
                  <a:tcPr/>
                </a:tc>
                <a:tc>
                  <a:txBody>
                    <a:bodyPr/>
                    <a:lstStyle/>
                    <a:p>
                      <a:pPr>
                        <a:defRPr sz="800">
                          <a:solidFill>
                            <a:srgbClr val="F8FAFC"/>
                          </a:solidFill>
                        </a:defRPr>
                      </a:pPr>
                      <a:r>
                        <a:t>70,000 Mg</a:t>
                      </a:r>
                    </a:p>
                  </a:txBody>
                  <a:tcPr/>
                </a:tc>
              </a:tr>
            </a:tbl>
          </a:graphicData>
        </a:graphic>
      </p:graphicFrame>
      <p:sp>
        <p:nvSpPr>
          <p:cNvPr id="11" name="TextBox 10"/>
          <p:cNvSpPr txBox="1"/>
          <p:nvPr/>
        </p:nvSpPr>
        <p:spPr>
          <a:xfrm>
            <a:off x="6217920" y="5029200"/>
            <a:ext cx="5029200" cy="1097280"/>
          </a:xfrm>
          <a:prstGeom prst="rect">
            <a:avLst/>
          </a:prstGeom>
          <a:noFill/>
        </p:spPr>
        <p:txBody>
          <a:bodyPr wrap="square">
            <a:spAutoFit/>
          </a:bodyPr>
          <a:lstStyle/>
          <a:p>
            <a:pPr>
              <a:defRPr sz="950">
                <a:solidFill>
                  <a:srgbClr val="94A3B8"/>
                </a:solidFill>
              </a:defRPr>
            </a:pPr>
            <a:r>
              <a:t>Schema Validation (facility_schema.json):</a:t>
            </a:r>
            <a:br/>
            <a:r>
              <a:t>Enforces required coordinates, ISO nation codes, permitted categories, and annual capacity constraints.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1E"/>
        </a:solidFill>
        <a:effectLst/>
      </p:bgPr>
    </p:bg>
    <p:spTree>
      <p:nvGrpSpPr>
        <p:cNvPr id="1" name=""/>
        <p:cNvGrpSpPr/>
        <p:nvPr/>
      </p:nvGrpSpPr>
      <p:grpSpPr/>
      <p:sp>
        <p:nvSpPr>
          <p:cNvPr id="2" name="TextBox 1"/>
          <p:cNvSpPr txBox="1"/>
          <p:nvPr/>
        </p:nvSpPr>
        <p:spPr>
          <a:xfrm>
            <a:off x="731520" y="411480"/>
            <a:ext cx="7315200" cy="320040"/>
          </a:xfrm>
          <a:prstGeom prst="rect">
            <a:avLst/>
          </a:prstGeom>
          <a:noFill/>
        </p:spPr>
        <p:txBody>
          <a:bodyPr wrap="square">
            <a:spAutoFit/>
          </a:bodyPr>
          <a:lstStyle/>
          <a:p>
            <a:pPr>
              <a:defRPr sz="1000" b="1">
                <a:solidFill>
                  <a:srgbClr val="38BDF8"/>
                </a:solidFill>
                <a:latin typeface="Arial"/>
              </a:defRPr>
            </a:pPr>
            <a:r>
              <a:t>08. DECISION SUPPORT PORTAL</a:t>
            </a:r>
          </a:p>
        </p:txBody>
      </p:sp>
      <p:sp>
        <p:nvSpPr>
          <p:cNvPr id="3" name="TextBox 2"/>
          <p:cNvSpPr txBox="1"/>
          <p:nvPr/>
        </p:nvSpPr>
        <p:spPr>
          <a:xfrm>
            <a:off x="731520" y="731520"/>
            <a:ext cx="9601200" cy="548640"/>
          </a:xfrm>
          <a:prstGeom prst="rect">
            <a:avLst/>
          </a:prstGeom>
          <a:noFill/>
        </p:spPr>
        <p:txBody>
          <a:bodyPr wrap="square">
            <a:spAutoFit/>
          </a:bodyPr>
          <a:lstStyle/>
          <a:p>
            <a:pPr>
              <a:defRPr sz="2200" b="1">
                <a:solidFill>
                  <a:srgbClr val="F8FAFC"/>
                </a:solidFill>
                <a:latin typeface="Arial"/>
              </a:defRPr>
            </a:pPr>
            <a:r>
              <a:t>Interactive Streamlit Web Dashboard</a:t>
            </a:r>
          </a:p>
        </p:txBody>
      </p:sp>
      <p:sp>
        <p:nvSpPr>
          <p:cNvPr id="4" name="TextBox 3"/>
          <p:cNvSpPr txBox="1"/>
          <p:nvPr/>
        </p:nvSpPr>
        <p:spPr>
          <a:xfrm>
            <a:off x="731520" y="1280160"/>
            <a:ext cx="9601200" cy="320040"/>
          </a:xfrm>
          <a:prstGeom prst="rect">
            <a:avLst/>
          </a:prstGeom>
          <a:noFill/>
        </p:spPr>
        <p:txBody>
          <a:bodyPr wrap="square">
            <a:spAutoFit/>
          </a:bodyPr>
          <a:lstStyle/>
          <a:p>
            <a:pPr>
              <a:defRPr sz="1100">
                <a:solidFill>
                  <a:srgbClr val="94A3B8"/>
                </a:solidFill>
                <a:latin typeface="Arial"/>
              </a:defRPr>
            </a:pPr>
            <a:r>
              <a:t>Glassmorphism UI serving pre-aggregated Parquet datasets with sub-second response times</a:t>
            </a:r>
          </a:p>
        </p:txBody>
      </p:sp>
      <p:sp>
        <p:nvSpPr>
          <p:cNvPr id="5" name="TextBox 4"/>
          <p:cNvSpPr txBox="1"/>
          <p:nvPr/>
        </p:nvSpPr>
        <p:spPr>
          <a:xfrm>
            <a:off x="10515600" y="502920"/>
            <a:ext cx="1005840" cy="365760"/>
          </a:xfrm>
          <a:prstGeom prst="rect">
            <a:avLst/>
          </a:prstGeom>
          <a:noFill/>
        </p:spPr>
        <p:txBody>
          <a:bodyPr wrap="none">
            <a:spAutoFit/>
          </a:bodyPr>
          <a:lstStyle/>
          <a:p>
            <a:pPr algn="r">
              <a:defRPr sz="1200" b="1">
                <a:solidFill>
                  <a:srgbClr val="38BDF8"/>
                </a:solidFill>
                <a:latin typeface="Arial"/>
              </a:defRPr>
            </a:pPr>
            <a:r>
              <a:t>09 / 10</a:t>
            </a:r>
          </a:p>
        </p:txBody>
      </p:sp>
      <p:sp>
        <p:nvSpPr>
          <p:cNvPr id="6" name="Rounded Rectangle 5"/>
          <p:cNvSpPr/>
          <p:nvPr/>
        </p:nvSpPr>
        <p:spPr>
          <a:xfrm>
            <a:off x="731520" y="1737360"/>
            <a:ext cx="5120640" cy="452628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28800"/>
            <a:ext cx="4846320" cy="4297680"/>
          </a:xfrm>
          <a:prstGeom prst="rect">
            <a:avLst/>
          </a:prstGeom>
          <a:noFill/>
        </p:spPr>
        <p:txBody>
          <a:bodyPr wrap="square">
            <a:spAutoFit/>
          </a:bodyPr>
          <a:lstStyle/>
          <a:p>
            <a:pPr>
              <a:defRPr sz="1300" b="1">
                <a:solidFill>
                  <a:srgbClr val="F8FAFC"/>
                </a:solidFill>
              </a:defRPr>
            </a:pPr>
            <a:r>
              <a:t>Zero-Latency Serving Layer Design</a:t>
            </a:r>
          </a:p>
          <a:p>
            <a:pPr>
              <a:defRPr sz="1000">
                <a:solidFill>
                  <a:srgbClr val="94A3B8"/>
                </a:solidFill>
              </a:defRPr>
            </a:pPr>
            <a:r>
              <a:t>• Serving Layer Architecture: The web dashboard never scans the 2.22 GB raw file on user interaction; it queries pre-aggregated Snappy Parquet tables and compact CSVs.</a:t>
            </a:r>
          </a:p>
          <a:p>
            <a:pPr>
              <a:defRPr sz="1000">
                <a:solidFill>
                  <a:srgbClr val="94A3B8"/>
                </a:solidFill>
              </a:defRPr>
            </a:pPr>
            <a:r>
              <a:t>• In-Memory Caching: Utilizes Streamlit's @st.cache_data decorator to cache queries and geographical GeoJSON payloads.</a:t>
            </a:r>
          </a:p>
          <a:p>
            <a:pPr>
              <a:defRPr sz="1000">
                <a:solidFill>
                  <a:srgbClr val="94A3B8"/>
                </a:solidFill>
              </a:defRPr>
            </a:pPr>
            <a:r>
              <a:t>• Glassmorphism Design: Custom dark slate theme (#0f172a), translucent cards, modern typography, and Plotly European choropleth maps.</a:t>
            </a:r>
          </a:p>
          <a:p>
            <a:pPr>
              <a:defRPr sz="1000">
                <a:solidFill>
                  <a:srgbClr val="94A3B8"/>
                </a:solidFill>
              </a:defRPr>
            </a:pPr>
            <a:r>
              <a:t>• Live Telemetry Integration: Monitors HDFS (port 9000), YARN (port 8088), Spark, and MongoDB services in real time.</a:t>
            </a:r>
          </a:p>
          <a:p>
            <a:pPr>
              <a:defRPr sz="1000">
                <a:solidFill>
                  <a:srgbClr val="94A3B8"/>
                </a:solidFill>
              </a:defRPr>
            </a:pPr>
            <a:r>
              <a:t>• Production Deployment: Hosted at http://localhost:8501.</a:t>
            </a:r>
          </a:p>
        </p:txBody>
      </p:sp>
      <p:sp>
        <p:nvSpPr>
          <p:cNvPr id="8" name="Rounded Rectangle 7"/>
          <p:cNvSpPr/>
          <p:nvPr/>
        </p:nvSpPr>
        <p:spPr>
          <a:xfrm>
            <a:off x="6035040" y="1737360"/>
            <a:ext cx="5394960" cy="452628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828800"/>
            <a:ext cx="5029200" cy="4297680"/>
          </a:xfrm>
          <a:prstGeom prst="rect">
            <a:avLst/>
          </a:prstGeom>
          <a:noFill/>
        </p:spPr>
        <p:txBody>
          <a:bodyPr wrap="square">
            <a:spAutoFit/>
          </a:bodyPr>
          <a:lstStyle/>
          <a:p>
            <a:pPr>
              <a:defRPr sz="1300" b="1">
                <a:solidFill>
                  <a:srgbClr val="F8FAFC"/>
                </a:solidFill>
              </a:defRPr>
            </a:pPr>
            <a:r>
              <a:t>Eight Interactive Dashboard Modules</a:t>
            </a:r>
          </a:p>
          <a:p>
            <a:pPr>
              <a:defRPr sz="950">
                <a:solidFill>
                  <a:srgbClr val="94A3B8"/>
                </a:solidFill>
              </a:defRPr>
            </a:pPr>
            <a:r>
              <a:t>1. Executive Overview: 5 KPI scorecards, historical trends, category donut chart.</a:t>
            </a:r>
          </a:p>
          <a:p>
            <a:pPr>
              <a:defRPr sz="950">
                <a:solidFill>
                  <a:srgbClr val="94A3B8"/>
                </a:solidFill>
              </a:defRPr>
            </a:pPr>
            <a:r>
              <a:t>2. Geographic Analysis: Plotly European choropleth with bubble overlays by tonnage.</a:t>
            </a:r>
          </a:p>
          <a:p>
            <a:pPr>
              <a:defRPr sz="950">
                <a:solidFill>
                  <a:srgbClr val="94A3B8"/>
                </a:solidFill>
              </a:defRPr>
            </a:pPr>
            <a:r>
              <a:t>3. Category Distribution: EU Directive Cat 1–6 rankings &amp; stacked area charts.</a:t>
            </a:r>
          </a:p>
          <a:p>
            <a:pPr>
              <a:defRPr sz="950">
                <a:solidFill>
                  <a:srgbClr val="94A3B8"/>
                </a:solidFill>
              </a:defRPr>
            </a:pPr>
            <a:r>
              <a:t>4. Scenario Comparison: BAU vs REC vs CIR policy trajectory simulation.</a:t>
            </a:r>
          </a:p>
          <a:p>
            <a:pPr>
              <a:defRPr sz="950">
                <a:solidFill>
                  <a:srgbClr val="94A3B8"/>
                </a:solidFill>
              </a:defRPr>
            </a:pPr>
            <a:r>
              <a:t>5. Stock &amp; Flow Balance: Mass conservation across stocks, POM, and informal scrap.</a:t>
            </a:r>
          </a:p>
          <a:p>
            <a:pPr>
              <a:defRPr sz="950">
                <a:solidFill>
                  <a:srgbClr val="94A3B8"/>
                </a:solidFill>
              </a:defRPr>
            </a:pPr>
            <a:r>
              <a:t>6. MLlib Forecast: Historical actuals vs fitted regression line through 2035.</a:t>
            </a:r>
          </a:p>
          <a:p>
            <a:pPr>
              <a:defRPr sz="950">
                <a:solidFill>
                  <a:srgbClr val="94A3B8"/>
                </a:solidFill>
              </a:defRPr>
            </a:pPr>
            <a:r>
              <a:t>7. Infrastructure Map: Interactive facility pins dynamically loaded from MongoDB.</a:t>
            </a:r>
          </a:p>
          <a:p>
            <a:pPr>
              <a:defRPr sz="950">
                <a:solidFill>
                  <a:srgbClr val="94A3B8"/>
                </a:solidFill>
              </a:defRPr>
            </a:pPr>
            <a:r>
              <a:t>8. Cluster Architecture: Live daemon status badges and embedded pipeline logs.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11E"/>
        </a:solidFill>
        <a:effectLst/>
      </p:bgPr>
    </p:bg>
    <p:spTree>
      <p:nvGrpSpPr>
        <p:cNvPr id="1" name=""/>
        <p:cNvGrpSpPr/>
        <p:nvPr/>
      </p:nvGrpSpPr>
      <p:grpSpPr/>
      <p:sp>
        <p:nvSpPr>
          <p:cNvPr id="2" name="TextBox 1"/>
          <p:cNvSpPr txBox="1"/>
          <p:nvPr/>
        </p:nvSpPr>
        <p:spPr>
          <a:xfrm>
            <a:off x="914400" y="731520"/>
            <a:ext cx="10362895" cy="365760"/>
          </a:xfrm>
          <a:prstGeom prst="rect">
            <a:avLst/>
          </a:prstGeom>
          <a:noFill/>
        </p:spPr>
        <p:txBody>
          <a:bodyPr wrap="none">
            <a:spAutoFit/>
          </a:bodyPr>
          <a:lstStyle/>
          <a:p>
            <a:pPr algn="ctr">
              <a:defRPr sz="1100" b="1">
                <a:solidFill>
                  <a:srgbClr val="38BDF8"/>
                </a:solidFill>
              </a:defRPr>
            </a:pPr>
            <a:r>
              <a:t>09. SUMMARY &amp; TECHNICAL CONTRIBUTIONS</a:t>
            </a:r>
          </a:p>
        </p:txBody>
      </p:sp>
      <p:sp>
        <p:nvSpPr>
          <p:cNvPr id="3" name="TextBox 2"/>
          <p:cNvSpPr txBox="1"/>
          <p:nvPr/>
        </p:nvSpPr>
        <p:spPr>
          <a:xfrm>
            <a:off x="914400" y="1097280"/>
            <a:ext cx="10362895" cy="914400"/>
          </a:xfrm>
          <a:prstGeom prst="rect">
            <a:avLst/>
          </a:prstGeom>
          <a:noFill/>
        </p:spPr>
        <p:txBody>
          <a:bodyPr wrap="none">
            <a:spAutoFit/>
          </a:bodyPr>
          <a:lstStyle/>
          <a:p>
            <a:pPr algn="ctr">
              <a:defRPr sz="2800" b="1">
                <a:solidFill>
                  <a:srgbClr val="F8FAFC"/>
                </a:solidFill>
              </a:defRPr>
            </a:pPr>
            <a:r>
              <a:t>Thank You! Questions &amp; Discussion</a:t>
            </a:r>
          </a:p>
        </p:txBody>
      </p:sp>
      <p:sp>
        <p:nvSpPr>
          <p:cNvPr id="4" name="Rounded Rectangle 3"/>
          <p:cNvSpPr/>
          <p:nvPr/>
        </p:nvSpPr>
        <p:spPr>
          <a:xfrm>
            <a:off x="1371600" y="2011680"/>
            <a:ext cx="9448495" cy="3291840"/>
          </a:xfrm>
          <a:prstGeom prst="roundRect">
            <a:avLst/>
          </a:prstGeom>
          <a:solidFill>
            <a:srgbClr val="131D31"/>
          </a:solidFill>
          <a:ln w="15240">
            <a:solidFill>
              <a:srgbClr val="2438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2103120"/>
            <a:ext cx="9082735" cy="3108960"/>
          </a:xfrm>
          <a:prstGeom prst="rect">
            <a:avLst/>
          </a:prstGeom>
          <a:noFill/>
        </p:spPr>
        <p:txBody>
          <a:bodyPr wrap="square">
            <a:spAutoFit/>
          </a:bodyPr>
          <a:lstStyle/>
          <a:p>
            <a:pPr>
              <a:defRPr sz="1300" b="1">
                <a:solidFill>
                  <a:srgbClr val="10B981"/>
                </a:solidFill>
              </a:defRPr>
            </a:pPr>
            <a:r>
              <a:t>Summary of Key Technical Achievements</a:t>
            </a:r>
          </a:p>
          <a:p>
            <a:pPr>
              <a:defRPr sz="1000">
                <a:solidFill>
                  <a:srgbClr val="94A3B8"/>
                </a:solidFill>
              </a:defRPr>
            </a:pPr>
            <a:r>
              <a:t>1. 100% User-Space Big Data Cluster: Full deployment of Java 17, Hadoop 3.5, Spark 4.2, and MongoDB without root access.</a:t>
            </a:r>
          </a:p>
          <a:p>
            <a:pPr>
              <a:defRPr sz="1000">
                <a:solidFill>
                  <a:srgbClr val="94A3B8"/>
                </a:solidFill>
              </a:defRPr>
            </a:pPr>
            <a:r>
              <a:t>2. Hierarchical Deduplication: Solved multi-million-ton double counting, isolating 139,963 clean Level-1 records.</a:t>
            </a:r>
          </a:p>
          <a:p>
            <a:pPr>
              <a:defRPr sz="1000">
                <a:solidFill>
                  <a:srgbClr val="94A3B8"/>
                </a:solidFill>
              </a:defRPr>
            </a:pPr>
            <a:r>
              <a:t>3. Dual Distributed Compute: Proved MapReduce on YARN and Spark SQL parity down to the exact decimal (UK = 302.47M Mg).</a:t>
            </a:r>
          </a:p>
          <a:p>
            <a:pPr>
              <a:defRPr sz="1000">
                <a:solidFill>
                  <a:srgbClr val="94A3B8"/>
                </a:solidFill>
              </a:defRPr>
            </a:pPr>
            <a:r>
              <a:t>4. Snappy Parquet Optimization: Dropped downstream analytical query execution latency from 90+ seconds to &lt;1 second.</a:t>
            </a:r>
          </a:p>
          <a:p>
            <a:pPr>
              <a:defRPr sz="1000">
                <a:solidFill>
                  <a:srgbClr val="94A3B8"/>
                </a:solidFill>
              </a:defRPr>
            </a:pPr>
            <a:r>
              <a:t>5. Spark MLlib Machine Learning: Fitted distributed linear regression on actuals (R² = 0.8410, RMSE = 313,674 Mg).</a:t>
            </a:r>
          </a:p>
          <a:p>
            <a:pPr>
              <a:defRPr sz="1000">
                <a:solidFill>
                  <a:srgbClr val="94A3B8"/>
                </a:solidFill>
              </a:defRPr>
            </a:pPr>
            <a:r>
              <a:t>6. MongoDB Geospatial Layer: Modeled European recycling infrastructure with compound 2dsphere indexing.</a:t>
            </a:r>
          </a:p>
          <a:p>
            <a:pPr>
              <a:defRPr sz="1000">
                <a:solidFill>
                  <a:srgbClr val="94A3B8"/>
                </a:solidFill>
              </a:defRPr>
            </a:pPr>
            <a:r>
              <a:t>7. Decision-Support Portal: Created an 8-page glassmorphism Streamlit web dashboard with interactive Plotly maps.</a:t>
            </a:r>
          </a:p>
        </p:txBody>
      </p:sp>
      <p:sp>
        <p:nvSpPr>
          <p:cNvPr id="6" name="TextBox 5"/>
          <p:cNvSpPr txBox="1"/>
          <p:nvPr/>
        </p:nvSpPr>
        <p:spPr>
          <a:xfrm>
            <a:off x="1371600" y="5486400"/>
            <a:ext cx="9448495" cy="731520"/>
          </a:xfrm>
          <a:prstGeom prst="rect">
            <a:avLst/>
          </a:prstGeom>
          <a:noFill/>
        </p:spPr>
        <p:txBody>
          <a:bodyPr wrap="none">
            <a:spAutoFit/>
          </a:bodyPr>
          <a:lstStyle/>
          <a:p>
            <a:pPr algn="ctr">
              <a:defRPr sz="1100" b="1">
                <a:solidFill>
                  <a:srgbClr val="38BDF8"/>
                </a:solidFill>
              </a:defRPr>
            </a:pPr>
            <a:r>
              <a:t>Live Dashboard: http://localhost:8501   |   Codebase: ~/ewaste-bigdata</a:t>
            </a:r>
            <a:br/>
            <a:r>
              <a:t>Handbook: PROJECT_EXPLANATION_AND_CONCEPTS.md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